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97480"/>
            <a:ext cx="12191695" cy="18288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YaHei"/>
              </a:rPr>
              <a:t>AWS RDS vs GCP Cloud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900" b="0">
                <a:solidFill>
                  <a:srgbClr val="9FC4EA"/>
                </a:solidFill>
                <a:latin typeface="Microsoft YaHei"/>
              </a:rPr>
              <a:t>托管关系型数据库全面对比：引擎 · 部署模式 · 存储 · HA/SLA · 特色能力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资料来源：AWS RDS User Guide · GCP Cloud SQL 官方文档 · 各自 SLA 页  |  2026-08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0080"/>
            <a:ext cx="1371600" cy="50292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0080"/>
            <a:ext cx="1371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AWS 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640080"/>
            <a:ext cx="1737360" cy="5029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640080"/>
            <a:ext cx="17373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GCP Cloud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对标关系：先厘清层次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本 PPT 聚焦 RDS vs Cloud SQL（托管传统引擎），Aurora/AlloyDB 仅附注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Cloud 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416052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57400"/>
            <a:ext cx="416052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63347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托管传统引擎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RDS  ← 本对比主角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Cloud SQL  ← 本对比主角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274320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83464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83464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834640"/>
            <a:ext cx="263347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云原生高性能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83464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Aurora（MySQL/PG 兼容）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83464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AlloyDB（PostgreSQL 兼容）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11880"/>
            <a:ext cx="274320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611880"/>
            <a:ext cx="416052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611880"/>
            <a:ext cx="416052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611880"/>
            <a:ext cx="263347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全球分布式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61188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Aurora Global / Aurora DSQL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61188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Spanner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97680"/>
            <a:ext cx="111556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067C5"/>
                </a:solidFill>
                <a:latin typeface="Microsoft YaHei"/>
              </a:rPr>
              <a:t>说明：</a:t>
            </a:r>
          </a:p>
          <a:p>
            <a:pPr algn="l">
              <a:spcBef>
                <a:spcPts val="8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RDS 与 Cloud SQL 都是「全托管传统数据库引擎」，是最直接的同类对标。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Aurora / AlloyDB 是各自的云原生高性能引擎，架构是另一档，本次不展开。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全球分布式场景（Spanner / Aurora Global）不属于同类，仅列出对应关系。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来源：docs.aws.amazon.com/AmazonRDS · cloud.google.com/sql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1. 支持的数据库引擎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RDS 引擎覆盖更广，独有 Oracle / Db2 / MariaDB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Cloud 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59436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4160520" cy="59436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57400"/>
            <a:ext cx="4160520" cy="59436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633472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引擎数量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6 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3 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51760"/>
            <a:ext cx="2743200" cy="59436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65176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65176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51760"/>
            <a:ext cx="2633472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MySQL / 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65176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✅ / 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65176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✅ / 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46120"/>
            <a:ext cx="2743200" cy="59436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246120"/>
            <a:ext cx="4160520" cy="59436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246120"/>
            <a:ext cx="4160520" cy="59436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246120"/>
            <a:ext cx="2633472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SQL 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24612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24612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40480"/>
            <a:ext cx="2743200" cy="59436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384048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384048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840480"/>
            <a:ext cx="2633472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84048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84048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434840"/>
            <a:ext cx="2743200" cy="59436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4434840"/>
            <a:ext cx="4160520" cy="59436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60920" y="4434840"/>
            <a:ext cx="4160520" cy="59436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434840"/>
            <a:ext cx="2633472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Oracle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43484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✅（全托管）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43484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❌（走 Oracle@Google Cloud）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029200"/>
            <a:ext cx="2743200" cy="59436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0" y="502920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502920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5029200"/>
            <a:ext cx="2633472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IBM Db2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02920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✅（全托管）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502920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❌（无对标托管服务）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来源：docs.aws.amazon.com/AmazonRDS/latest/UserGuide/Welcome.html · developers.google.com/cloud-sql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2. GCP 上如何跑 Oracle / Db2？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Cloud SQL 不支持，需走其它路径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32120" cy="411480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120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4285F4"/>
                </a:solidFill>
                <a:latin typeface="Microsoft YaHei"/>
              </a:rPr>
              <a:t>Oracle → 有官方方案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120640" cy="3200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  <a:latin typeface="Microsoft YaHei"/>
              </a:rPr>
              <a:t>Oracle Database@Google Cloud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Google × Oracle 合作：把 OCI Exadata 硬件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放进 GCP 数据中心，低延迟直连 + IAM 集成。</a:t>
            </a:r>
          </a:p>
          <a:p>
            <a:pPr algn="l"/>
            <a:r>
              <a:rPr sz="600" b="0">
                <a:solidFill>
                  <a:srgbClr val="1A2B4A"/>
                </a:solidFill>
                <a:latin typeface="Microsoft YaHei"/>
              </a:rPr>
              <a:t/>
            </a:r>
          </a:p>
          <a:p>
            <a:pPr algn="l"/>
            <a:r>
              <a:rPr sz="1250" b="1">
                <a:solidFill>
                  <a:srgbClr val="0067C5"/>
                </a:solidFill>
                <a:latin typeface="Microsoft YaHei"/>
              </a:rPr>
              <a:t>支持的 OCI 服务：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Exadata Database Service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Autonomous AI Database Service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Base Database Service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• Exascale Infrastructure / GoldenGate</a:t>
            </a:r>
          </a:p>
          <a:p>
            <a:pPr algn="l"/>
            <a:r>
              <a:rPr sz="600" b="0">
                <a:solidFill>
                  <a:srgbClr val="1A2B4A"/>
                </a:solidFill>
                <a:latin typeface="Microsoft YaHei"/>
              </a:rPr>
              <a:t/>
            </a:r>
          </a:p>
          <a:p>
            <a:pPr algn="l"/>
            <a:r>
              <a:rPr sz="1150" b="0">
                <a:solidFill>
                  <a:srgbClr val="5A6B82"/>
                </a:solidFill>
                <a:latin typeface="Microsoft YaHei"/>
              </a:rPr>
              <a:t>本质：不是 Cloud SQL 托管，是在 GCP 里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5A6B82"/>
                </a:solidFill>
                <a:latin typeface="Microsoft YaHei"/>
              </a:rPr>
              <a:t>用原生 OCI Oracle 服务。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532120" cy="4114800"/>
          </a:xfrm>
          <a:prstGeom prst="roundRect">
            <a:avLst/>
          </a:prstGeom>
          <a:solidFill>
            <a:srgbClr val="FBECEC"/>
          </a:solidFill>
          <a:ln w="19050">
            <a:solidFill>
              <a:srgbClr val="D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5120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D03A2E"/>
                </a:solidFill>
                <a:latin typeface="Microsoft YaHei"/>
              </a:rPr>
              <a:t>Db2 → 无对标托管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5120640" cy="3200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  <a:latin typeface="Microsoft YaHei"/>
              </a:rPr>
              <a:t>GCP 没有等价的全托管 Db2 服务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1A2B4A"/>
                </a:solidFill>
                <a:latin typeface="Microsoft YaHei"/>
              </a:rPr>
              <a:t>（Cloud SQL 不支持，也无 Oracle 那样的合作方案）</a:t>
            </a:r>
          </a:p>
          <a:p>
            <a:pPr algn="l"/>
            <a:r>
              <a:rPr sz="600" b="0">
                <a:solidFill>
                  <a:srgbClr val="1A2B4A"/>
                </a:solidFill>
                <a:latin typeface="Microsoft YaHei"/>
              </a:rPr>
              <a:t/>
            </a:r>
          </a:p>
          <a:p>
            <a:pPr algn="l"/>
            <a:r>
              <a:rPr sz="1250" b="1">
                <a:solidFill>
                  <a:srgbClr val="0067C5"/>
                </a:solidFill>
                <a:latin typeface="Microsoft YaHei"/>
              </a:rPr>
              <a:t>客户只能：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① Compute Engine 上自建 Db2（非托管）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② IBM Cloud 的 Db2 托管（跨云）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③ 迁移到 PostgreSQL / 其它引擎</a:t>
            </a:r>
          </a:p>
          <a:p>
            <a:pPr algn="l"/>
            <a:r>
              <a:rPr sz="600" b="0">
                <a:solidFill>
                  <a:srgbClr val="1A2B4A"/>
                </a:solidFill>
                <a:latin typeface="Microsoft YaHei"/>
              </a:rPr>
              <a:t/>
            </a:r>
          </a:p>
          <a:p>
            <a:pPr algn="l"/>
            <a:r>
              <a:rPr sz="1200" b="1">
                <a:solidFill>
                  <a:srgbClr val="D03A2E"/>
                </a:solidFill>
                <a:latin typeface="Microsoft YaHei"/>
              </a:rPr>
              <a:t>→ 这是 GCP 相对 AWS 的真实短板：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D03A2E"/>
                </a:solidFill>
                <a:latin typeface="Microsoft YaHei"/>
              </a:rPr>
              <a:t>   AWS RDS 有全托管 Db2。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来源：cloud.google.com/oracle/database/docs/overview（Oracle@Google Cloud）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3. 版本模型：Cloud SQL 分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Cloud SQL 两档打包能力；RDS 靠实例类+选项自由组合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Cloud 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59436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4160520" cy="59436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57400"/>
            <a:ext cx="4160520" cy="59436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633472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无 edition 概念，靠实例类+选项组合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Enterprise / Enterprise Plus 两档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51760"/>
            <a:ext cx="2743200" cy="59436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65176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65176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51760"/>
            <a:ext cx="2633472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可用性 SLA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65176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统一（见 SLA 页）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65176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Ent 99.95% / Ent Plus 99.99%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46120"/>
            <a:ext cx="2743200" cy="59436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246120"/>
            <a:ext cx="4160520" cy="59436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246120"/>
            <a:ext cx="4160520" cy="59436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246120"/>
            <a:ext cx="2633472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Data cache（本地SSD读缓存）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24612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对应 Optimized Reads（本地NVMe）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24612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仅 Enterprise Plus，读性能最高 4x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40480"/>
            <a:ext cx="2743200" cy="59436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384048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384048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840480"/>
            <a:ext cx="2633472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优化写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84048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Optimized Writes（NVMe 16KiB 原子写）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84048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仅 Ent Plus，写吞吐 3x / 延迟-98%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434840"/>
            <a:ext cx="2743200" cy="59436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4434840"/>
            <a:ext cx="4160520" cy="59436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60920" y="4434840"/>
            <a:ext cx="4160520" cy="59436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434840"/>
            <a:ext cx="2633472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PITR 日志保留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43484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0–35 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43484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Ent 最多 7 天 / Ent Plus 最多 35 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029200"/>
            <a:ext cx="2743200" cy="59436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0" y="502920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502920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5029200"/>
            <a:ext cx="2633472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计划维护停机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02920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维护窗口内（可 Blue/Green 近零）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5029200"/>
            <a:ext cx="3995928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Ent 数分钟 / Ent Plus 亚秒级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来源：docs.cloud.google.com/sql/docs/mysql/editions-intro（官方 edition 对比表）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4. RDS 三种部署模式（含本地 NVMe binlog）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Multi-AZ DB cluster 用本地 NVMe 存事务日志/binlog 降写延迟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46304" cy="9144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5A6B82"/>
                </a:solidFill>
                <a:latin typeface="Microsoft YaHei"/>
              </a:rPr>
              <a:t>① Single-AZ instance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10881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架构：单实例，单 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10881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5A6B82"/>
                </a:solidFill>
                <a:latin typeface="Microsoft YaHei"/>
              </a:rPr>
              <a:t>用途：开发 / 测试，无高可用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42032"/>
            <a:ext cx="146304" cy="91440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87752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067C5"/>
                </a:solidFill>
                <a:latin typeface="Microsoft YaHei"/>
              </a:rPr>
              <a:t>② Multi-AZ DB instance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0"/>
            <a:ext cx="10881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架构：1 主 + 1 备用(standby, 不可读)，2 AZ，同步复制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10881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5A6B82"/>
                </a:solidFill>
                <a:latin typeface="Microsoft YaHei"/>
              </a:rPr>
              <a:t>用途：高可用，故障自动切换，备用不分担读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29584"/>
            <a:ext cx="146304" cy="9144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75304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2E9E5B"/>
                </a:solidFill>
                <a:latin typeface="Microsoft YaHei"/>
              </a:rPr>
              <a:t>③ Multi-AZ DB 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13632"/>
            <a:ext cx="10881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架构：1 写 + 2 可读 reader，跨 3 AZ，半同步复制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87952"/>
            <a:ext cx="10881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5A6B82"/>
                </a:solidFill>
                <a:latin typeface="Microsoft YaHei"/>
              </a:rPr>
              <a:t>用途：HA + 读扩展 + 更低写延迟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17720"/>
            <a:ext cx="11201400" cy="1371600"/>
          </a:xfrm>
          <a:prstGeom prst="roundRect">
            <a:avLst/>
          </a:prstGeom>
          <a:solidFill>
            <a:srgbClr val="ECF7F0"/>
          </a:solidFill>
          <a:ln w="1524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09160"/>
            <a:ext cx="1088136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2E9E5B"/>
                </a:solidFill>
                <a:latin typeface="Microsoft YaHei"/>
              </a:rPr>
              <a:t>关键：③ Multi-AZ DB cluster「binlog/事务日志写本地 NVMe」</a:t>
            </a:r>
          </a:p>
          <a:p>
            <a:pPr algn="l">
              <a:spcBef>
                <a:spcPts val="500"/>
              </a:spcBef>
            </a:pPr>
            <a:r>
              <a:rPr sz="1150" b="0">
                <a:solidFill>
                  <a:srgbClr val="1A2B4A"/>
                </a:solidFill>
                <a:latin typeface="Microsoft YaHei"/>
              </a:rPr>
              <a:t>• 强制使用带 d 后缀的本地 NVMe 实例类（db.m6gd/m6id/r6gd/r5d/x2iedn…）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1A2B4A"/>
                </a:solidFill>
                <a:latin typeface="Microsoft YaHei"/>
              </a:rPr>
              <a:t>• RDS 官方特性页原文："Uses local storage for transactional logs to reduce jitter"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1A2B4A"/>
                </a:solidFill>
                <a:latin typeface="Microsoft YaHei"/>
              </a:rPr>
              <a:t>• binlog 走本地 NVMe(快) + 半同步复制到 2 个 AZ reader → 写延迟低于 Multi-AZ DB instance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来源：multi-az-db-clusters-concepts.html · aws.amazon.com/rds/features/multi-az · USER_Binlog.MultiAZ.html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5. 高可用 &amp; SLA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HA 基础档打平；Cloud SQL Enterprise Plus 高一档；RDS 单实例有兜底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Cloud 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73152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4160520" cy="73152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57400"/>
            <a:ext cx="4160520" cy="73152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633472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HA / 多可用区 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399592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99.95%（Multi-AZ 实例 / 集群）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99592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99.95%（Ent）/ 99.99%（Ent Plus）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88920"/>
            <a:ext cx="2743200" cy="73152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788920"/>
            <a:ext cx="4160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788920"/>
            <a:ext cx="4160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788920"/>
            <a:ext cx="2633472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单实例 SLA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788920"/>
            <a:ext cx="399592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99.5%（Single-DB Instance 有兜底）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788920"/>
            <a:ext cx="399592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单区/共享核实例不在 SLA 覆盖内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20440"/>
            <a:ext cx="2743200" cy="73152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520440"/>
            <a:ext cx="4160520" cy="73152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520440"/>
            <a:ext cx="4160520" cy="73152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520440"/>
            <a:ext cx="2633472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HA 机制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520440"/>
            <a:ext cx="399592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同步复制到备用副本，自动故障转移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520440"/>
            <a:ext cx="399592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跨 zone 主备，故障自动切换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51960"/>
            <a:ext cx="2743200" cy="73152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4251960"/>
            <a:ext cx="4160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4251960"/>
            <a:ext cx="4160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251960"/>
            <a:ext cx="2633472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读扩展 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251960"/>
            <a:ext cx="399592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Multi-AZ DB cluster（2 可读 reader）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4251960"/>
            <a:ext cx="3995928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Microsoft YaHei"/>
              </a:rPr>
              <a:t>Read pool（Ent Plus，1–20 节点）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来源：aws.amazon.com/rds/sla · cloud.google.com/sql/sla · about-read-pools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6. 存储上限 &amp; 只读副本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RDS 存储可调性更强；副本模型两家不同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Cloud 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41605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57400"/>
            <a:ext cx="41605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63347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最大存储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39959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64 TiB；Oracle/SQLServer 附加卷 256 TiB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9959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64 TB（专用核）/ 3 TB（共享核）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15768"/>
            <a:ext cx="274320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715768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715768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715768"/>
            <a:ext cx="263347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持久块存储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715768"/>
            <a:ext cx="39959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gp3 / io2 Block Express / io1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715768"/>
            <a:ext cx="39959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SSD / HDD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74136"/>
            <a:ext cx="274320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374136"/>
            <a:ext cx="41605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374136"/>
            <a:ext cx="41605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374136"/>
            <a:ext cx="263347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最高 IOPS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374136"/>
            <a:ext cx="39959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io2 Block Express 256,000 IOPS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374136"/>
            <a:ext cx="39959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随规格自动走，无独立 provisioned IOPS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32504"/>
            <a:ext cx="274320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4032504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4032504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032504"/>
            <a:ext cx="263347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本地 NVMe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032504"/>
            <a:ext cx="39959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d 系实例类(≤7.6TB) + Optimized Reads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4032504"/>
            <a:ext cx="39959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Enterprise Plus data cache（本地 SSD）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90872"/>
            <a:ext cx="2743200" cy="65836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4690872"/>
            <a:ext cx="41605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60920" y="4690872"/>
            <a:ext cx="416052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690872"/>
            <a:ext cx="2633472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只读副本上限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690872"/>
            <a:ext cx="39959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每主实例最多 15 个（硬上限）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690872"/>
            <a:ext cx="39959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副本=实例，受项目配额≤1000/项目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来源：CHAP_Storage.html · Concepts.DBInstanceClass.Types.html · USER_ReadRepl.html · cloud.google.com/sql/docs/quotas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7. 备份 / PITR &amp; 特色能力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各自亮点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32120" cy="448056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9900"/>
                </a:solidFill>
                <a:latin typeface="Microsoft YaHei"/>
              </a:rPr>
              <a:t>AWS RDS 特色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12064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>
                <a:solidFill>
                  <a:srgbClr val="1A2B4A"/>
                </a:solidFill>
                <a:latin typeface="Microsoft YaHei"/>
              </a:rPr>
              <a:t>• 自动备份 0–35 天 + PITR 秒级恢复点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Blue/Green 部署（近零停机升级/切换）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RDS Proxy（连接池、故障转移加速）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Performance Insights（性能分析）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RDS Custom（可访问 OS/DB，Oracle/SQLServer）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引擎最全（6 种，含 Oracle/Db2）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Optimized Reads / Optimized Writes（本地 NVMe）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532120" cy="448056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  <a:latin typeface="Microsoft YaHei"/>
              </a:rPr>
              <a:t>GCP Cloud SQL 特色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512064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>
                <a:solidFill>
                  <a:srgbClr val="1A2B4A"/>
                </a:solidFill>
                <a:latin typeface="Microsoft YaHei"/>
              </a:rPr>
              <a:t>• PITR：Ent 7 天 / Ent Plus 35 天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near-zero downtime 计划维护（Ent Plus 亚秒）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Managed Connection Pooling（Ent Plus）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Query Insights + AI 辅助排障（Ent Plus）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IAM 数据库认证深度集成 + Auth Proxy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Read pools（Ent Plus，1–20 节点统一读端点）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A2B4A"/>
                </a:solidFill>
                <a:latin typeface="Microsoft YaHei"/>
              </a:rPr>
              <a:t>• Data cache 读 4x / 优化写 3x（Ent Plus）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来源：各自官方 feature 文档 · editions-intro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云原生篇：Aurora vs AlloyDB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900" b="0">
                <a:solidFill>
                  <a:srgbClr val="9FC4EA"/>
                </a:solidFill>
                <a:latin typeface="Microsoft YaHei"/>
              </a:rPr>
              <a:t>存算分离的云原生数据库对标（RDS/Cloud SQL 之上的一档）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06240"/>
            <a:ext cx="13716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3716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Aurora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4206240"/>
            <a:ext cx="13716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4206240"/>
            <a:ext cx="13716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AlloyDB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8. 云原生架构：存算分离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两者都是「基于 LOG 的共享存储 + 读写分离」（墨天轮解析印证）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Aurora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AlloyDB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56692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4160520" cy="56692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57400"/>
            <a:ext cx="4160520" cy="56692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63347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兼容引擎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3995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MySQL + PostgreSQL（双引擎）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995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仅 PostgreSQL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24328"/>
            <a:ext cx="2743200" cy="56692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624328"/>
            <a:ext cx="4160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624328"/>
            <a:ext cx="4160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624328"/>
            <a:ext cx="263347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存储模型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624328"/>
            <a:ext cx="3995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cluster volume：数据 6 副本跨 3 AZ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624328"/>
            <a:ext cx="3995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disaggregated 存算解耦，跨多 AZ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91256"/>
            <a:ext cx="2743200" cy="56692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91256"/>
            <a:ext cx="4160520" cy="56692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191256"/>
            <a:ext cx="4160520" cy="56692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191256"/>
            <a:ext cx="263347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存储分层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191256"/>
            <a:ext cx="3995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分布式共享存储卷（SSD）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191256"/>
            <a:ext cx="3995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log storage + LPS(日志处理) + 块存储 三层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58184"/>
            <a:ext cx="2743200" cy="56692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3758184"/>
            <a:ext cx="4160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3758184"/>
            <a:ext cx="4160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758184"/>
            <a:ext cx="263347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binlog/日志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758184"/>
            <a:ext cx="3995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binlog 存在 cluster volume 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758184"/>
            <a:ext cx="3995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WAL 转日志写入 log storage 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25112"/>
            <a:ext cx="2743200" cy="56692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4325112"/>
            <a:ext cx="4160520" cy="56692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60920" y="4325112"/>
            <a:ext cx="4160520" cy="56692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325112"/>
            <a:ext cx="263347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只读副本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325112"/>
            <a:ext cx="3995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最多 15 个 Aurora Replica，共享存储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325112"/>
            <a:ext cx="3995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主节点 + read pool，共享 LOG 存储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92040"/>
            <a:ext cx="2743200" cy="56692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0" y="4892040"/>
            <a:ext cx="4160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4892040"/>
            <a:ext cx="4160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892040"/>
            <a:ext cx="263347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临时文件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4892040"/>
            <a:ext cx="3995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本地存储放排序/建索引临时文件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4892040"/>
            <a:ext cx="3995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计算节点本地资源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来源：Aurora.Overview.StorageReliability.html(官方) · alloydb/docs/overview(官方) · 三层存储与LOG架构：墨天轮 modb.pro/db/445739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9. HTAP / 列式引擎 / AI（AlloyDB 差异化）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AlloyDB 内置列存内存 + WAL Apply 优化，主打 HTAP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Aurora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AlloyDB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416052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57400"/>
            <a:ext cx="416052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63347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HTAP / 列式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本体偏 OLTP，分析走 Redshift/zero-ETL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内置 columnar engine（列存内存），原生 HTAP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274320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83464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283464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834640"/>
            <a:ext cx="263347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列存装载方式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83464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83464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手工装载：SELECT google_columnar_engine_add('表')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11880"/>
            <a:ext cx="274320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611880"/>
            <a:ext cx="416052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3611880"/>
            <a:ext cx="416052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611880"/>
            <a:ext cx="263347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只读节点优化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61188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共享存储读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61188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WAL Apply 优化：只读节点仅重演主实例
CACHE 数据，其余直接读数据文件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389120"/>
            <a:ext cx="274320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438912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438912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389120"/>
            <a:ext cx="263347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AI 能力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38912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pgvector 扩展 + Bedrock/SageMaker 集成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438912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AlloyDB AI：向量搜索+ML 调用内置进引擎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166360"/>
            <a:ext cx="274320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5166360"/>
            <a:ext cx="416052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60920" y="5166360"/>
            <a:ext cx="416052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5166360"/>
            <a:ext cx="263347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实现方式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16636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AWS 自研引擎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5166360"/>
            <a:ext cx="39959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Microsoft YaHei"/>
              </a:rPr>
              <a:t>通过 PG Extension 实现，随 PG 社区版演进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来源：alloydb/docs/overview(官方 columnar/AlloyDB AI) · 列存装载/WAL Apply优化/Extension实现：墨天轮 modb.pro/db/445739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10. AlloyDB 命名 &amp; 性能宣称（分层标注）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厂商 benchmark 互不承认，命名无官方逐字解释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1201400" cy="137160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88136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4285F4"/>
                </a:solidFill>
                <a:latin typeface="Microsoft YaHei"/>
              </a:rPr>
              <a:t>「Alloy」= 合金：为什么这么取名？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Alloy(合金)=把多种金属熔合成性能更强的新材料。AlloyDB 寓意把「开源 PostgreSQL」熔合「Google 自研 scale-out 计算/存储 + AI/ML」= 更强的新产品。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5A6B82"/>
                </a:solidFill>
                <a:latin typeface="Microsoft YaHei"/>
              </a:rPr>
              <a:t>⚠️ Google 无「官方逐字」命名解释文档；此为基于官方定位(blog: "combines the best of Google's... with full PostgreSQL compatibility")的合理推断。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17520"/>
            <a:ext cx="11201400" cy="1234440"/>
          </a:xfrm>
          <a:prstGeom prst="roundRect">
            <a:avLst/>
          </a:prstGeom>
          <a:solidFill>
            <a:srgbClr val="FFF6E8"/>
          </a:solidFill>
          <a:ln w="1524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1088136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Microsoft YaHei"/>
              </a:rPr>
              <a:t>性能宣称（⚠️ 均为厂商自家 benchmark，互不承认，选型须自测）</a:t>
            </a:r>
          </a:p>
          <a:p>
            <a:pPr algn="l">
              <a:spcBef>
                <a:spcPts val="500"/>
              </a:spcBef>
            </a:pPr>
            <a:r>
              <a:rPr sz="1150" b="0">
                <a:solidFill>
                  <a:srgbClr val="1A2B4A"/>
                </a:solidFill>
                <a:latin typeface="Microsoft YaHei"/>
              </a:rPr>
              <a:t>• AlloyDB(GCP自述)：比原生 PG 事务 4x、分析 100x；比 Amazon 同类事务 2x   • Aurora(AWS自述)：比标准 MySQL 5x、PG 3x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A6B82"/>
                </a:solidFill>
                <a:latin typeface="Microsoft YaHei"/>
              </a:rPr>
              <a:t>• 第三方(墨天轮)：AlloyDB 大型统计 SQL 实测提升几十倍，但非严格对照；AlloyDB 未像 HeatWave 那样堆硬件砸性能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434840"/>
            <a:ext cx="128016" cy="56692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FF9900"/>
                </a:solidFill>
                <a:latin typeface="Microsoft YaHei"/>
              </a:rPr>
              <a:t>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274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要 MySQL 云原生只能 Aurora；AlloyDB 只做 PostgreSQL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056632"/>
            <a:ext cx="128016" cy="5669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56632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2E9E5B"/>
                </a:solidFill>
                <a:latin typeface="Microsoft YaHei"/>
              </a:rPr>
              <a:t>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都是 LOG 共享存储+读写分离；Aurora 6副本/3AZ，AlloyDB 存算解耦三层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678424"/>
            <a:ext cx="128016" cy="5669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678424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4285F4"/>
                </a:solidFill>
                <a:latin typeface="Microsoft YaHei"/>
              </a:rPr>
              <a:t>差异化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71032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AlloyDB 内置列存 HTAP + AlloyDB AI（向量/ML内置引擎）更激进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命名为推断(Google无官方定义)；性能均厂商自述benchmark；第三方=墨天轮 modb.pro/db/445739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全球分布式篇：Aurora Global / DSQL vs Spanner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900" b="0">
                <a:solidFill>
                  <a:srgbClr val="9FC4EA"/>
                </a:solidFill>
                <a:latin typeface="Microsoft YaHei"/>
              </a:rPr>
              <a:t>跨区域分布式数据库对标（云原生之上的一档）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06240"/>
            <a:ext cx="219456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2194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Aurora Global / DSQL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4206240"/>
            <a:ext cx="16459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4206240"/>
            <a:ext cx="1645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Cloud Spanner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11. 全球分布式：三方对标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真正对标 Spanner 的是 Aurora DSQL（active-active），不是 Aurora Global（单主）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749039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39" y="1600200"/>
            <a:ext cx="3977639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78" y="1600200"/>
            <a:ext cx="3977639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749039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3977639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AWS Aurora Global / DSQL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8" y="1600200"/>
            <a:ext cx="3977639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GCP Cloud Spanner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3749039" cy="74980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39" y="2057400"/>
            <a:ext cx="3977639" cy="74980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8" y="2057400"/>
            <a:ext cx="3977639" cy="74980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3639311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2057400"/>
            <a:ext cx="3813047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2B4A"/>
                </a:solidFill>
                <a:latin typeface="Microsoft YaHei"/>
              </a:rPr>
              <a:t>Global=跨区灾备+就近读
DSQL=全球分布式 serverless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8" y="2057400"/>
            <a:ext cx="3813047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全球分布式 SQL（多模型）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07208"/>
            <a:ext cx="3749039" cy="74980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39" y="2807208"/>
            <a:ext cx="397763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8" y="2807208"/>
            <a:ext cx="397763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807208"/>
            <a:ext cx="3639311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写模式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2807208"/>
            <a:ext cx="3813047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2B4A"/>
                </a:solidFill>
                <a:latin typeface="Microsoft YaHei"/>
              </a:rPr>
              <a:t>Global=单主(1区写)
DSQL=active-active 多区可写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8" y="2807208"/>
            <a:ext cx="3813047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多区，Paxos leader 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57016"/>
            <a:ext cx="3749039" cy="74980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39" y="3557016"/>
            <a:ext cx="3977639" cy="74980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8" y="3557016"/>
            <a:ext cx="3977639" cy="74980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557016"/>
            <a:ext cx="3639311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兼容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9" y="3557016"/>
            <a:ext cx="3813047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2B4A"/>
                </a:solidFill>
                <a:latin typeface="Microsoft YaHei"/>
              </a:rPr>
              <a:t>MySQL/PG（Global）
PG 兼容（DSQL）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8" y="3557016"/>
            <a:ext cx="3813047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专有 + PostgreSQL 接口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306824"/>
            <a:ext cx="3749039" cy="74980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39" y="4306824"/>
            <a:ext cx="397763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8" y="4306824"/>
            <a:ext cx="397763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306824"/>
            <a:ext cx="3639311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复制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79" y="4306824"/>
            <a:ext cx="3813047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2B4A"/>
                </a:solidFill>
                <a:latin typeface="Microsoft YaHei"/>
              </a:rPr>
              <a:t>Global=存储级异步 &lt;1s
DSQL=同步强一致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8" y="4306824"/>
            <a:ext cx="3813047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同步 Paxos，多数派提交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056632"/>
            <a:ext cx="3749039" cy="749808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06239" y="5056632"/>
            <a:ext cx="3977639" cy="74980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3878" y="5056632"/>
            <a:ext cx="3977639" cy="749808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5056632"/>
            <a:ext cx="3639311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RPO/RTO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79" y="5056632"/>
            <a:ext cx="3813047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2B4A"/>
                </a:solidFill>
                <a:latin typeface="Microsoft YaHei"/>
              </a:rPr>
              <a:t>Global: RPO&lt;1s, RTO&lt;1min
DSQL: RPO=0 自动恢复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18" y="5056632"/>
            <a:ext cx="3813047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RPO=0，Paxos 多数派容错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来源：aws.amazon.com/rds/aurora/global-database · docs.aws.amazon.com/aurora-dsql · spanner/docs/replication（均官方）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12. 一致性机制 &amp; SLA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Spanner 靠 TrueTime，DSQL 靠 OCC；多区 SLA 都是 99.999%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46888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1600200"/>
            <a:ext cx="429768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1600200"/>
            <a:ext cx="429768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468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600200"/>
            <a:ext cx="42976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 Aurora DSQL/Global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600200"/>
            <a:ext cx="42976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 Cloud Spanner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46888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2057400"/>
            <a:ext cx="429768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2057400"/>
            <a:ext cx="429768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57400"/>
            <a:ext cx="235915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一致性模型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057400"/>
            <a:ext cx="413308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DSQL：强一致+snapshot isolation(OCC)
Global：主区强一致/从区&lt;1s滞后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057400"/>
            <a:ext cx="413308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external consistency（最强）+ TrueTime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246888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26080" y="2834640"/>
            <a:ext cx="4297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2834640"/>
            <a:ext cx="4297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834640"/>
            <a:ext cx="235915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时钟/并发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834640"/>
            <a:ext cx="413308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DSQL：QP 互不通信，OCC 乐观并发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834640"/>
            <a:ext cx="413308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TrueTime(GPS+原子钟) + MVCC + Paxos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11880"/>
            <a:ext cx="246888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80" y="3611880"/>
            <a:ext cx="429768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23760" y="3611880"/>
            <a:ext cx="429768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611880"/>
            <a:ext cx="235915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多区 SLA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611880"/>
            <a:ext cx="413308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DSQL 多区 99.999% / 单区 99.99%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611880"/>
            <a:ext cx="413308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Multi/Dual-Regional 99.999% / Regional 99.99%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389120"/>
            <a:ext cx="246888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6080" y="4389120"/>
            <a:ext cx="4297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23760" y="4389120"/>
            <a:ext cx="4297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389120"/>
            <a:ext cx="235915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多模型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389120"/>
            <a:ext cx="413308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纯关系型(PG 兼容)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389120"/>
            <a:ext cx="413308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关系+Graph+全文+向量 一库多模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166360"/>
            <a:ext cx="2468880" cy="777240"/>
          </a:xfrm>
          <a:prstGeom prst="rect">
            <a:avLst/>
          </a:prstGeom>
          <a:solidFill>
            <a:srgbClr val="E8EE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26080" y="5166360"/>
            <a:ext cx="429768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23760" y="5166360"/>
            <a:ext cx="4297680" cy="777240"/>
          </a:xfrm>
          <a:prstGeom prst="rect">
            <a:avLst/>
          </a:prstGeom>
          <a:solidFill>
            <a:srgbClr val="F2F6F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5166360"/>
            <a:ext cx="235915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0067C5"/>
                </a:solidFill>
                <a:latin typeface="Microsoft YaHei"/>
              </a:rPr>
              <a:t>成熟度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5166360"/>
            <a:ext cx="413308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DSQL 2024 re:Invent 新出，生态较新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5166360"/>
            <a:ext cx="413308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2017 GA，成熟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来源：docs.aws.amazon.com/aurora-dsql · spanner/sla · spanner true-time-external-consistency（官方）· DSQL OCC/QP：Marc Brooker(AWS DSQL首席工程师)博客 brooker.co.za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13. Spanner 命名 &amp; 强一致的代价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全球强一致牺牲了什么？CAP 与延迟 trade-off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1201400" cy="96012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  <a:latin typeface="Microsoft YaHei"/>
              </a:rPr>
              <a:t>「Spanner」命名来头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1A2B4A"/>
                </a:solidFill>
                <a:latin typeface="Microsoft YaHei"/>
              </a:rPr>
              <a:t>寓意「span 跨越」——一个数据库横跨全球多个数据中心/区域（global database that spans the world）。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5A6B82"/>
                </a:solidFill>
                <a:latin typeface="Microsoft YaHei"/>
              </a:rPr>
              <a:t>⚠️ Google 无官方命名解释；此为社区共识（Wikipedia/Reddit），非官方逐字定义。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78608"/>
            <a:ext cx="11201400" cy="1417320"/>
          </a:xfrm>
          <a:prstGeom prst="roundRect">
            <a:avLst/>
          </a:prstGeom>
          <a:solidFill>
            <a:srgbClr val="ECF7F0"/>
          </a:solidFill>
          <a:ln w="1524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E9E5B"/>
                </a:solidFill>
                <a:latin typeface="Microsoft YaHei"/>
              </a:rPr>
              <a:t>CAP：Spanner 技术上是 CP 系统（牺牲 A，非 CA）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2B4A"/>
                </a:solidFill>
                <a:latin typeface="Microsoft YaHei"/>
              </a:rPr>
              <a:t>Eric Brewer(CAP定理提出者/Google VP)官方博客原话："during some partitions, Spanner chooses C and forfeits A. It is technically a CP system."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2B4A"/>
                </a:solidFill>
                <a:latin typeface="Microsoft YaHei"/>
              </a:rPr>
              <a:t>但靠 Google 私有全球光纤网，网络分区极罕见(网络仅占&lt;10%故障)→实测 &gt;5个9(99.999%)，用户「当它是 CA」用。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33087"/>
            <a:ext cx="11201400" cy="1554480"/>
          </a:xfrm>
          <a:prstGeom prst="roundRect">
            <a:avLst/>
          </a:prstGeom>
          <a:solidFill>
            <a:srgbClr val="FFF6E8"/>
          </a:solidFill>
          <a:ln w="1524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206240"/>
            <a:ext cx="10881360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Microsoft YaHei"/>
              </a:rPr>
              <a:t>Latency：牺牲的是「写延迟」（读靠 MVCC 基本不受影响）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2B4A"/>
                </a:solidFill>
                <a:latin typeface="Microsoft YaHei"/>
              </a:rPr>
              <a:t>① TrueTime commit-wait：写事务要等时钟不确定性区间 ε 过去才提交（保证 external consistency）→ 写多等 ε(毫秒级)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2B4A"/>
                </a:solidFill>
                <a:latin typeface="Microsoft YaHei"/>
              </a:rPr>
              <a:t>② 跨区写要 Paxos 多数派同步 → 写延迟受跨区网络 RTT/光速制约（跨洲几十~上百 ms）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2B4A"/>
                </a:solidFill>
                <a:latin typeface="Microsoft YaHei"/>
              </a:rPr>
              <a:t>③ 读：MVCC 多版本，snapshot read 不阻塞写、可本地副本完成 → 读延迟低。核心 trade-off = 写延迟↑ 换 全球强一致+高可用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来源：Google Cloud 官方博客《Inside Cloud Spanner and the CAP Theorem》(Eric Brewer) · spanner true-time 官方文档 · 命名：Wikipedia/社区推测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总结：关键差异一览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选型时优先看这几点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37160" cy="6400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88136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Microsoft YaHei"/>
              </a:rPr>
              <a:t>引擎覆盖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28216"/>
            <a:ext cx="10881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RDS 完胜（6 vs 3，独有 Oracle/Db2/MariaDB）；GCP Oracle 靠 Oracle@GCP，Db2 无对标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37160" cy="6400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21408"/>
            <a:ext cx="1088136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  <a:latin typeface="Microsoft YaHei"/>
              </a:rPr>
              <a:t>HA / SLA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32304"/>
            <a:ext cx="10881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HA 基础档打平 99.95%；Cloud SQL Ent Plus 99.99% 高一档；RDS 单实例 99.5% 兜底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25496"/>
            <a:ext cx="137160" cy="6400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25496"/>
            <a:ext cx="1088136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Microsoft YaHei"/>
              </a:rPr>
              <a:t>存储可调性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2"/>
            <a:ext cx="10881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RDS 更强：io2 Block Express 256K IOPS、256TiB 附加卷、独立 provisioned IOPS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9584"/>
            <a:ext cx="137160" cy="64008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29584"/>
            <a:ext cx="1088136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E9E5B"/>
                </a:solidFill>
                <a:latin typeface="Microsoft YaHei"/>
              </a:rPr>
              <a:t>部署模式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10881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RDS 三档；Multi-AZ DB cluster 用本地 NVMe 存 binlog/事务日志降写延迟（强制 d 系）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33672"/>
            <a:ext cx="137160" cy="6400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33672"/>
            <a:ext cx="1088136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  <a:latin typeface="Microsoft YaHei"/>
              </a:rPr>
              <a:t>版本模型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44568"/>
            <a:ext cx="10881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Cloud SQL 用 Enterprise/Ent Plus 分档打包能力；RDS 靠实例类+选项自由组合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937760"/>
            <a:ext cx="137160" cy="64008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37760"/>
            <a:ext cx="1088136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E9E5B"/>
                </a:solidFill>
                <a:latin typeface="Microsoft YaHei"/>
              </a:rPr>
              <a:t>本地 NVMe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48656"/>
            <a:ext cx="10881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两家都重度用本地 NVMe/SSD 加速，但用途不同：RDS 临时对象/原子写 vs Cloud SQL 读缓存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641848"/>
            <a:ext cx="137160" cy="6400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41848"/>
            <a:ext cx="1088136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  <a:latin typeface="Microsoft YaHei"/>
              </a:rPr>
              <a:t>全球分布式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52744"/>
            <a:ext cx="1088136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对标 Spanner 的是 Aurora DSQL(active-active)；Spanner=CP系统靠TrueTime，写延迟换全球强一致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所有数据基于 AWS RDS User Guide / GCP Cloud SQL 官方文档核实；具体以各自 SLA/定价/quotas 页实时为准。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