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97480"/>
            <a:ext cx="12191695" cy="18288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AWS EC2 vs GCP Compute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0">
                <a:solidFill>
                  <a:srgbClr val="9FC4EA"/>
                </a:solidFill>
                <a:latin typeface="Microsoft YaHei"/>
              </a:rPr>
              <a:t>计算实例全面对比：机型 · 硬件 · 计费 · 功能特性 · SLA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资料来源：AWS / GCP 官方文档 · What's New · Blog  |  2026-08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0080"/>
            <a:ext cx="1371600" cy="50292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0080"/>
            <a:ext cx="1371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AWS EC2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640080"/>
            <a:ext cx="1554480" cy="5029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640080"/>
            <a:ext cx="15544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GCP GCE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1. 机型分类（Machine Families）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两家都按通用/计算/内存/加速/存储/HPC 划分，组织方式不同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EC2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Compute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通用型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M系(均衡)、T系(可突发)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E2、N4/N2、C4/C4A、T2D/T2A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0604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60604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60604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0604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计算优化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60604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C系（C8g/C7i/C7g…）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0604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C4、C3、C4A、H3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5468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5468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15468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15468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内存优化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15468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R系、X系、High Memory(U系)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15468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M4/M3/M2/M1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0332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370332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370332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70332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加速/GPU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70332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P系、G系、Trn/Inf(自研芯片)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70332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A4/A3、G2、TPU(v5/v6)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5196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425196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425196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5196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存储优化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25196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I系(NVMe)、D系、H系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25196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Z3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0060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0" y="480060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480060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80060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HPC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80060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Hpc系(hpc7g/hpc6id…)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480060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H3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34924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0" y="534924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60920" y="534924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534924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可突发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34924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T系(T4g/T3…)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534924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E2（共享核）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来源：aws.amazon.com/ec2/instance-types/ · docs.cloud.google.com/compute/docs/machine-resource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2. 底层处理器与单机规格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两家都有 Intel/AMD + 自研 ARM；超大内存 AWS 领先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EC2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Compute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Intel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Xeon 6 / Granite Rapids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C4/N4 = 第5代 Emerald Rapids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0604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60604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60604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0604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AMD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60604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EPYC Turin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0604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C3D / N4D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5468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5468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15468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15468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自研 ARM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15468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Graviton4（生态最成熟）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15468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Axion（C4A / N4A）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0332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370332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370332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70332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自研 AI 芯片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70332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Trainium / Inferentia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70332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TPU（v5/v6）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5196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425196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425196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5196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单机内存上限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25196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High Memory 达 24TB（SAP HANA）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25196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C4 最高 1.5TB DDR5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0060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0" y="480060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480060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80060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单卷存储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80060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EBS NVMe（io2 达 256K IOPS）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480060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Hyperdisk Extreme 500K IOPS/10GB/s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34924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0" y="534924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60920" y="534924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534924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网络带宽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34924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最高 400Gbps+（EFA 机型）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534924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最高 200Gbps（Titanium）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来源：aws.amazon.com/ec2 各机型页 · cloud.google.com C4 GA blog · Titanium 页（GCP 规格为官方自述）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3. 计费与折扣模型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GCP 有自动持续折扣 + 自定义机型；AWS 折扣需承诺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EC2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Compute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6400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6400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6400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计费粒度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按秒（Linux，最少60s）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按秒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97480"/>
            <a:ext cx="2743200" cy="6400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697480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697480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97480"/>
            <a:ext cx="26334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无承诺折扣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69748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无自动折扣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9748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持续使用折扣 SUD 自动打折，最高 20-30%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37560"/>
            <a:ext cx="2743200" cy="6400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337560"/>
            <a:ext cx="4160520" cy="6400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337560"/>
            <a:ext cx="4160520" cy="6400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337560"/>
            <a:ext cx="26334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承诺折扣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33756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Savings Plans、Reserved Instances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33756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CUD：Resource / Spend-based / Flex CUD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77640"/>
            <a:ext cx="2743200" cy="6400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3977640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3977640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977640"/>
            <a:ext cx="26334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抢占式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97764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Spot Instances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97764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Spot VMs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17720"/>
            <a:ext cx="2743200" cy="6400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4617720"/>
            <a:ext cx="4160520" cy="6400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4617720"/>
            <a:ext cx="4160520" cy="6400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617720"/>
            <a:ext cx="26334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自定义机型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61772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不支持（只能选预定义 size）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61772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支持 Custom Machine Types，自由配 vCPU/内存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来源：docs.cloud.google.com（sustained-use-discounts / committed-use-discounts）· aws.amazon.com/savingsplans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4. Live Migration（热迁移）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两家都支持；差异在覆盖面与默认程度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EC2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Compute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8686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是否支持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支持（live migration host maintenance）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支持（默认 MIGRATE）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26080"/>
            <a:ext cx="2743200" cy="8686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926080"/>
            <a:ext cx="4160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926080"/>
            <a:ext cx="4160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926080"/>
            <a:ext cx="26334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覆盖面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926080"/>
            <a:ext cx="3995928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专用主机文档化最清晰；无本地盘的
Nitro 实例 2025 起默认自动迁移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926080"/>
            <a:ext cx="3995928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所有普通 VM 默认热迁，覆盖面更广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94760"/>
            <a:ext cx="2743200" cy="8686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794760"/>
            <a:ext cx="416052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794760"/>
            <a:ext cx="4160520" cy="8686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794760"/>
            <a:ext cx="26334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机型限制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794760"/>
            <a:ext cx="3995928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有本地实例存储的老机型
(C1/C3/D2/I2/M1/M2/M3/R3/X1) 不支持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794760"/>
            <a:ext cx="3995928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GPU/部分加速机型不支持，只能 TERMINATE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63440"/>
            <a:ext cx="2743200" cy="8686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4663440"/>
            <a:ext cx="4160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4663440"/>
            <a:ext cx="4160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663440"/>
            <a:ext cx="26334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用户体感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663440"/>
            <a:ext cx="3995928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reboot 迁移需客户响应 scheduled event；
live migration 自动（24h 内）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4663440"/>
            <a:ext cx="3995928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完全透明自动，实例持续运行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来源：docs.aws.amazon.com/.../dedicated-hosts-maintenance.html · What's New 2025-05 · GCP live-migration-process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5. 硬件卸载：Nitro vs Titanium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同思路的 offload 体系，各有所长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EC2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Compute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6400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6400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6400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AWS Nitro System（2017 起，全线标配）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Google Titanium（含 Intel IPU）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97480"/>
            <a:ext cx="2743200" cy="6400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697480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697480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97480"/>
            <a:ext cx="26334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网络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69748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ENA / EFA，最高 400Gbps+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9748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gVNIC / Titanium，最高 200Gbps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37560"/>
            <a:ext cx="2743200" cy="6400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337560"/>
            <a:ext cx="4160520" cy="6400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337560"/>
            <a:ext cx="4160520" cy="6400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337560"/>
            <a:ext cx="26334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存储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33756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EBS/本地盘走 NVMe 块设备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33756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Hyperdisk Extreme 500K IOPS/实例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77640"/>
            <a:ext cx="2743200" cy="6400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3977640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3977640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977640"/>
            <a:ext cx="26334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安全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97764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Nitro 安全芯片、Nitro Enclaves 机密计算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97764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全线速网络加密、安全隔离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17720"/>
            <a:ext cx="2743200" cy="64008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4617720"/>
            <a:ext cx="4160520" cy="6400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4617720"/>
            <a:ext cx="4160520" cy="64008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617720"/>
            <a:ext cx="26334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裸金属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61772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成熟（可自带 hypervisor / 无 hypervisor）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61772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支持裸金属实例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来源：aws.amazon.com/ec2/nitro · docs.aws（ec2-nitro-instances）· cloud.google.com/titanium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6. 放置策略 &amp; 镜像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放置策略 AWS 模式更细；镜像 GCP 分层更清晰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EC2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Compute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低延迟聚集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Cluster placement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Compact placement 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0604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60604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60604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0604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分散抗故障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60604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Spread（≤7 实例/AZ/组）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0604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Spread（≤8 availability domain）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5468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5468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15468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15468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分区隔离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15468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Partition（HDFS/Kafka 故障域）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15468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无同名；用 spread + 区域 MIG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0332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370332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370332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70332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标准镜像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70332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AMI（region 级，可跨区复制）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70332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Image / Custom Image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5196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425196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4251960"/>
            <a:ext cx="41605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5196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整机多盘克隆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25196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靠 AMI（含多块 EBS 快照）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25196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Machine Image（多盘+配置，跨盘一致）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00600"/>
            <a:ext cx="274320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0" y="480060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480060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800600"/>
            <a:ext cx="263347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单盘备份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80060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EBS Snapshot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4800600"/>
            <a:ext cx="39959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Disk Snapshot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来源：docs.cloud.google.com（placement-policies-overview / machine-images）· AWS EC2 User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7. 单实例可用性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单机层面 GCP 明显更高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EC2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Compute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单实例 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99.5%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99.9%（普通）/ 99.95%（内存优化）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274320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83464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83464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834640"/>
            <a:ext cx="2633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多 AZ/Zone SLA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83464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99.99%（跨 2+ AZ）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83464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99.99%（跨多 Zone，Premium Tier）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11880"/>
            <a:ext cx="274320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61188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61188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611880"/>
            <a:ext cx="2633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月度允许停机（单机）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61188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约 3.6 小时/月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61188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约 43 分钟/月（内存型 约 21.6 分钟）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389120"/>
            <a:ext cx="274320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438912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438912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389120"/>
            <a:ext cx="2633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赔付起点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38912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单实例 &lt;99.5% 起赔；
单小时不可用&gt;6分钟自动不计费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438912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单实例 downtime≥1分钟计入；
按阶梯给 Financial Credit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来源：aws.amazon.com/compute/sla（Last Updated 2022-05-25）· cloud.google.com/compute/sla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8. 业界评价 / 各自短板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已剔除证伪旧信息；按可信度分三层：官方事实 / 业界共识 / 主观感觉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2743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  <a:latin typeface="Microsoft YaHei"/>
              </a:rPr>
              <a:t>可信度分层：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1399032"/>
            <a:ext cx="822960" cy="256032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399032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官方事实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399032"/>
            <a:ext cx="822960" cy="256032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399032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业界共识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399032"/>
            <a:ext cx="822960" cy="256032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399032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主观感觉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28800"/>
            <a:ext cx="5532120" cy="38404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28800"/>
            <a:ext cx="5532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AWS EC2 常被指出的短板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32120" cy="38404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828800"/>
            <a:ext cx="5532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GCP GCE 常被指出的短板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86000"/>
            <a:ext cx="5532120" cy="84124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286000"/>
            <a:ext cx="109728" cy="84124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74920" y="2359152"/>
            <a:ext cx="822960" cy="237744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359152"/>
            <a:ext cx="82296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官方事实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2340864"/>
            <a:ext cx="42976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A2B4A"/>
                </a:solidFill>
                <a:latin typeface="Microsoft YaHei"/>
              </a:rPr>
              <a:t>无自定义机型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688336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只能选预定义 size，可能被迫多买 vCPU/内存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82112"/>
            <a:ext cx="5532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182112"/>
            <a:ext cx="109728" cy="84124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74920" y="3255264"/>
            <a:ext cx="822960" cy="237744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3255264"/>
            <a:ext cx="82296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官方事实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3236976"/>
            <a:ext cx="42976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A2B4A"/>
                </a:solidFill>
                <a:latin typeface="Microsoft YaHei"/>
              </a:rPr>
              <a:t>无自动持续折扣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584448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省钱须主动买 Savings Plans/RI（承诺 1-3 年）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078224"/>
            <a:ext cx="5532120" cy="84124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078224"/>
            <a:ext cx="109728" cy="841248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74920" y="4151376"/>
            <a:ext cx="822960" cy="237744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4151376"/>
            <a:ext cx="82296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业界共识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4133088"/>
            <a:ext cx="42976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A2B4A"/>
                </a:solidFill>
                <a:latin typeface="Microsoft YaHei"/>
              </a:rPr>
              <a:t>计费复杂、难预测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480560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服务/计费维度多，账单难看懂——最常见吐槽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974336"/>
            <a:ext cx="5532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974336"/>
            <a:ext cx="109728" cy="84124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74920" y="5047488"/>
            <a:ext cx="822960" cy="23774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5047488"/>
            <a:ext cx="82296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主观感觉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" y="5029200"/>
            <a:ext cx="42976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A2B4A"/>
                </a:solidFill>
                <a:latin typeface="Microsoft YaHei"/>
              </a:rPr>
              <a:t>上手 / 网络配置繁琐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5376672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控制台选项细，VPC/子网/IAM 层层配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286000"/>
            <a:ext cx="5532120" cy="84124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2286000"/>
            <a:ext cx="109728" cy="841248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835640" y="2359152"/>
            <a:ext cx="822960" cy="237744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5640" y="2359152"/>
            <a:ext cx="82296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业界共识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4808" y="2340864"/>
            <a:ext cx="42976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A2B4A"/>
                </a:solidFill>
                <a:latin typeface="Microsoft YaHei"/>
              </a:rPr>
              <a:t>服务广度/成熟度不如 AWS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64808" y="2688336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AWS 200+ 服务、企业级完整度领先（口径不同）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182112"/>
            <a:ext cx="5532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3182112"/>
            <a:ext cx="109728" cy="841248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835640" y="3255264"/>
            <a:ext cx="822960" cy="237744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35640" y="3255264"/>
            <a:ext cx="82296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业界共识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3236976"/>
            <a:ext cx="42976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A2B4A"/>
                </a:solidFill>
                <a:latin typeface="Microsoft YaHei"/>
              </a:rPr>
              <a:t>市场份额 / 生态惯性小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8" y="3584448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第三方工具、社区镜像、文档丰富度不及 AWS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4078224"/>
            <a:ext cx="5532120" cy="84124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63640" y="4078224"/>
            <a:ext cx="109728" cy="84124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835640" y="4151376"/>
            <a:ext cx="822960" cy="23774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35640" y="4151376"/>
            <a:ext cx="82296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主观感觉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64808" y="4133088"/>
            <a:ext cx="42976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A2B4A"/>
                </a:solidFill>
                <a:latin typeface="Microsoft YaHei"/>
              </a:rPr>
              <a:t>大企业采购惯性弱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64808" y="4480560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更偏 AI/大数据/K8s 细分，非默认企业首选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4974336"/>
            <a:ext cx="5532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63640" y="4974336"/>
            <a:ext cx="109728" cy="841248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835640" y="5047488"/>
            <a:ext cx="822960" cy="237744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35640" y="5047488"/>
            <a:ext cx="82296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业界共识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64808" y="5029200"/>
            <a:ext cx="42976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A2B4A"/>
                </a:solidFill>
                <a:latin typeface="Microsoft YaHei"/>
              </a:rPr>
              <a:t>AZ-per-region 密度/区域深耕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64808" y="5376672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region 总数已≥AWS，但成熟区服务铺开仍AWS优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920" y="5989320"/>
            <a:ext cx="11201400" cy="365760"/>
          </a:xfrm>
          <a:prstGeom prst="roundRect">
            <a:avLst/>
          </a:prstGeom>
          <a:solidFill>
            <a:srgbClr val="FBECEC"/>
          </a:solidFill>
          <a:ln w="12700">
            <a:solidFill>
              <a:srgbClr val="D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D03A2E"/>
                </a:solidFill>
                <a:latin typeface="Microsoft YaHei"/>
              </a:rPr>
              <a:t>已剔除过时旧信息：① “GCE 不支持 Windows”（官方有完整 Windows/SQL Server 支持）② “GCP region 远少于 AWS”（官方最新 GCP 43 region ≥ AWS 39 region，已反转）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第三方观点仅作参考；官方事实项均经 AWS/GCP 官方文档核实（region 数：aws.amazon.com/about-aws/global-infrastructure、cloud.google.com/about/locations 2026-07）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总结：关键差异一览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选型时优先看这几点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46304" cy="71323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E9E5B"/>
                </a:solidFill>
                <a:latin typeface="Microsoft YaHei"/>
              </a:rPr>
              <a:t>热迁移 / 单机可用性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83664"/>
            <a:ext cx="10881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>
                <a:solidFill>
                  <a:srgbClr val="1A2B4A"/>
                </a:solidFill>
                <a:latin typeface="Microsoft YaHei"/>
              </a:rPr>
              <a:t>GCP 默认透明热迁 + 单机 SLA 99.9%；AWS 单机 SLA 99.5%、更依赖多 AZ 冗余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40864"/>
            <a:ext cx="146304" cy="713232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40864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067C5"/>
                </a:solidFill>
                <a:latin typeface="Microsoft YaHei"/>
              </a:rPr>
              <a:t>硬件卸载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10881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>
                <a:solidFill>
                  <a:srgbClr val="1A2B4A"/>
                </a:solidFill>
                <a:latin typeface="Microsoft YaHei"/>
              </a:rPr>
              <a:t>Nitro 更成熟、网络带宽上限更高(400G+)、裸金属选项多；Titanium 单卷 IOPS 标称领先(500K)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27248"/>
            <a:ext cx="146304" cy="713232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27248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Microsoft YaHei"/>
              </a:rPr>
              <a:t>机型灵活性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6432"/>
            <a:ext cx="10881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>
                <a:solidFill>
                  <a:srgbClr val="1A2B4A"/>
                </a:solidFill>
                <a:latin typeface="Microsoft YaHei"/>
              </a:rPr>
              <a:t>GCP 独有自定义机型 + 自动持续折扣(SUD)；AWS 机型数量多、Graviton ARM 生态最成熟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13632"/>
            <a:ext cx="146304" cy="713232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13632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067C5"/>
                </a:solidFill>
                <a:latin typeface="Microsoft YaHei"/>
              </a:rPr>
              <a:t>放置策略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42816"/>
            <a:ext cx="10881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>
                <a:solidFill>
                  <a:srgbClr val="1A2B4A"/>
                </a:solidFill>
                <a:latin typeface="Microsoft YaHei"/>
              </a:rPr>
              <a:t>AWS 三模式更细(cluster/spread/partition)；GCP 两模式(compact/spread) + workload 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00016"/>
            <a:ext cx="146304" cy="713232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0016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Microsoft YaHei"/>
              </a:rPr>
              <a:t>镜像管理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10881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>
                <a:solidFill>
                  <a:srgbClr val="1A2B4A"/>
                </a:solidFill>
                <a:latin typeface="Microsoft YaHei"/>
              </a:rPr>
              <a:t>AWS 用 AMI 统一；GCP 分 Image / Machine Image / Snapshot 三层，整机克隆语义更清晰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486400"/>
            <a:ext cx="146304" cy="71323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864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E9E5B"/>
                </a:solidFill>
                <a:latin typeface="Microsoft YaHei"/>
              </a:rPr>
              <a:t>超大内存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15584"/>
            <a:ext cx="10881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>
                <a:solidFill>
                  <a:srgbClr val="1A2B4A"/>
                </a:solidFill>
                <a:latin typeface="Microsoft YaHei"/>
              </a:rPr>
              <a:t>AWS High Memory 单机达 24TB（SAP HANA 场景领先）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所有数据基于 AWS/GCP 官方文档核实；GCP 性能类数字部分为官方自述基准，具体以各自 SLA/定价页实时为准。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