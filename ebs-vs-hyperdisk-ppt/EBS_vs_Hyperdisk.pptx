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648" y="1965960"/>
            <a:ext cx="2926080" cy="82296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14884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mazon Ember Heavy"/>
              </a:rPr>
              <a:t>AWS EBS  vs  GCP Hyperdisk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2004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1B1E8"/>
                </a:solidFill>
                <a:latin typeface="Amazon Ember"/>
              </a:rPr>
              <a:t>块存储详细对比：规格 · 性能修改 · 持久性 · 撕裂写保护 · 价格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48056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C9D2DE"/>
                </a:solidFill>
                <a:latin typeface="Amazon Ember"/>
              </a:rPr>
              <a:t>数据来源：AWS 官方文档 / GCP Cloud 官方文档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5A6B82"/>
                </a:solidFill>
                <a:latin typeface="Amazon Ember"/>
              </a:rPr>
              <a:t>2026-07-24   ·   美国区（us-east / us-central1 基准价）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mazon Ember Heavy"/>
              </a:rPr>
              <a:t>对比维度总览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9D2DE"/>
                </a:solidFill>
                <a:latin typeface="Amazon Ember"/>
              </a:rPr>
              <a:t>本次对比涵盖的 6 个方面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1280160"/>
            <a:ext cx="548640" cy="548640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mazon Ember Heav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34439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Amazon Ember Heavy"/>
              </a:rPr>
              <a:t>产品线与规格    </a:t>
            </a:r>
            <a:r>
              <a:rPr sz="1200" b="0">
                <a:solidFill>
                  <a:srgbClr val="5A6B82"/>
                </a:solidFill>
                <a:latin typeface="Amazon Ember"/>
              </a:rPr>
              <a:t>盘型划分逻辑 · 单卷性能上限 · 独有能力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30552"/>
            <a:ext cx="548640" cy="548640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mazon Ember Heavy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84832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Amazon Ember Heavy"/>
              </a:rPr>
              <a:t>在线修改性能    </a:t>
            </a:r>
            <a:r>
              <a:rPr sz="1200" b="0">
                <a:solidFill>
                  <a:srgbClr val="5A6B82"/>
                </a:solidFill>
                <a:latin typeface="Amazon Ember"/>
              </a:rPr>
              <a:t>冷却期 · 性能密度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980944"/>
            <a:ext cx="548640" cy="548640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mazon Ember Heavy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35224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Amazon Ember Heavy"/>
              </a:rPr>
              <a:t>数据持久性    </a:t>
            </a:r>
            <a:r>
              <a:rPr sz="1200" b="0">
                <a:solidFill>
                  <a:srgbClr val="5A6B82"/>
                </a:solidFill>
                <a:latin typeface="Amazon Ember"/>
              </a:rPr>
              <a:t>逐盘型 durability 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831336"/>
            <a:ext cx="548640" cy="548640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mazon Ember Heavy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85616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Amazon Ember Heavy"/>
              </a:rPr>
              <a:t>撕裂写保护 (TWP)    </a:t>
            </a:r>
            <a:r>
              <a:rPr sz="1200" b="0">
                <a:solidFill>
                  <a:srgbClr val="5A6B82"/>
                </a:solidFill>
                <a:latin typeface="Amazon Ember"/>
              </a:rPr>
              <a:t>Torn Write Protection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681728"/>
            <a:ext cx="548640" cy="548640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mazon Ember Heavy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6008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Amazon Ember Heavy"/>
              </a:rPr>
              <a:t>Snapshot 快照    </a:t>
            </a:r>
            <a:r>
              <a:rPr sz="1200" b="0">
                <a:solidFill>
                  <a:srgbClr val="5A6B82"/>
                </a:solidFill>
                <a:latin typeface="Amazon Ember"/>
              </a:rPr>
              <a:t>类型 · 作用域 · 即时快照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5532120"/>
            <a:ext cx="548640" cy="548640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mazon Ember Heavy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48640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Amazon Ember Heavy"/>
              </a:rPr>
              <a:t>价格模型    </a:t>
            </a:r>
            <a:r>
              <a:rPr sz="1200" b="0">
                <a:solidFill>
                  <a:srgbClr val="5A6B82"/>
                </a:solidFill>
                <a:latin typeface="Amazon Ember"/>
              </a:rPr>
              <a:t>精确单价逐型对比（含快照，美国区）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mazon Ember Heavy"/>
              </a:rPr>
              <a:t>① 产品线划分与单卷性能规格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9D2DE"/>
                </a:solidFill>
                <a:latin typeface="Amazon Ember"/>
              </a:rPr>
              <a:t>架构理念相同：网络块存储 · 存算分离 · 性能与容量解耦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9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79"/>
                <a:gridCol w="4160520"/>
                <a:gridCol w="48006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mazon Ember"/>
                        </a:rPr>
                        <a:t>盘型定位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mazon Ember"/>
                        </a:rPr>
                        <a:t>AWS EBS（按介质/等级分）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mazon Ember"/>
                        </a:rPr>
                        <a:t>GCP Hyperdisk（按工作负载分）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通用型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gp3 / gp2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Hyperdisk Balanced（官方首推）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高端/极致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io2 Block Express / io1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Hyperdisk Extreme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跨AZ高可用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（无原生，需自搭）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Hyperdisk Balanced HA（同步复制RPO=0）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吞吐/冷存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st1 / sc1（HDD）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Hyperdisk Throughput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AI/ML 只读分发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（无对应）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Hyperdisk ML（单卷只读挂 2500 实例）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60520"/>
            <a:ext cx="11201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50" b="1">
                <a:solidFill>
                  <a:srgbClr val="232F3E"/>
                </a:solidFill>
                <a:latin typeface="Amazon Ember"/>
              </a:rPr>
              <a:t>单卷性能上限 GCP 更高：Extreme 350K IOPS / 5000 MiB/s ＞ EBS io2 256K / 4000 MiB/s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50" b="0">
                <a:solidFill>
                  <a:srgbClr val="2A2A2A"/>
                </a:solidFill>
                <a:latin typeface="Amazon Ember"/>
              </a:rPr>
              <a:t>通用盘 GCP Balanced 160K IOPS ＞ gp3 80K IOPS（高一倍）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50" b="0">
                <a:solidFill>
                  <a:srgbClr val="2A2A2A"/>
                </a:solidFill>
                <a:latin typeface="Amazon Ember"/>
              </a:rPr>
              <a:t>GCP 独有：Hyperdisk ML 只读扇出 2500 实例（EBS Multi-Attach 最多 16）、Balanced HA 跨AZ同步复制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50" b="0">
                <a:solidFill>
                  <a:srgbClr val="2A2A2A"/>
                </a:solidFill>
                <a:latin typeface="Amazon Ember"/>
              </a:rPr>
              <a:t>AWS 独有：io2 支持 NVMe reservations（集群仲裁）、HDD 冷盘 st1/sc1 分档更细更便宜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50" b="0">
                <a:solidFill>
                  <a:srgbClr val="5A6B82"/>
                </a:solidFill>
                <a:latin typeface="Amazon Ember"/>
              </a:rPr>
              <a:t>单卷最大容量均为 64 TiB（GCP C4 预览 128 TiB）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mazon Ember Heavy"/>
              </a:rPr>
              <a:t>② 在线修改性能：冷却期对比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9D2DE"/>
                </a:solidFill>
                <a:latin typeface="Amazon Ember"/>
              </a:rPr>
              <a:t>两家都支持不停机改 IOPS/吞吐；差异在“修改频率限制”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40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0420"/>
                <a:gridCol w="3808476"/>
                <a:gridCol w="4032504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能力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AWS EBS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GCP Hyperdisk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在线改 IOPS/吞吐（不停机）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✓ 支持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✓ 支持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改性能是否需同时扩容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否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否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两次修改间冷却期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无（改完即可再改）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有：其它类型每 4h；ML 每 6h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修改频率上限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24h 滚动窗口内每卷最多 4 次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受固定冷却窗约束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性能密度（最大 IOPS/GiB）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gp3：500 IOPS/GiB（单卷上限 80,000）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Balanced：500 IOPS/GiB（单卷上限 160,000）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达到密度上限所需容量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≥160 GiB 打满 80,000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≥320 GiB 打满 160,000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201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AWS EBS：一次修改完成后即可立即再改，24h 滚动窗口内每卷最多 4 次（改容量/改类型/调性能均计入）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GCP Hyperdisk：IOPS/吞吐 每 4 小时改一次（Hyperdisk ML 每 6 小时），受 cool-down timer 约束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1">
                <a:solidFill>
                  <a:srgbClr val="232F3E"/>
                </a:solidFill>
                <a:latin typeface="Amazon Ember"/>
              </a:rPr>
              <a:t>性能密度相同：两家通用盘均为 500 IOPS/GiB；但 GCP Balanced 单卷上限 160,000，是 gp3（80,000）的两倍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mazon Ember Heavy"/>
              </a:rPr>
              <a:t>③ 数据持久性（Durability）逐型对比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9D2DE"/>
                </a:solidFill>
                <a:latin typeface="Amazon Ember"/>
              </a:rPr>
              <a:t>官方标称设计值；GCP 用“Better than”措辞，AWS 用区间 + 年故障率 AFR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201398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4349"/>
                <a:gridCol w="4453568"/>
                <a:gridCol w="4723481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mazon Ember"/>
                        </a:rPr>
                        <a:t>等级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mazon Ember"/>
                        </a:rPr>
                        <a:t>AWS EBS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mazon Ember"/>
                        </a:rPr>
                        <a:t>GCP Hyperdisk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通用型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gp3：99.8%–99.9%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Balanced：优于 99.999%（5 个 9+）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高端/极致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io2 Block Express：99.999%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Extreme：优于 99.9999%（6 个 9+）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跨AZ高可用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（无原生对应）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Balanced HA：优于 99.9999%（6 个 9+）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吞吐/冷存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st1 / sc1：99.8%–99.9%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Throughput：优于 99.999%（5 个 9+）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AI/ML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（无对应）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ML：优于 99.999%（5 个 9+）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80560"/>
            <a:ext cx="11201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1">
                <a:solidFill>
                  <a:srgbClr val="232F3E"/>
                </a:solidFill>
                <a:latin typeface="Amazon Ember"/>
              </a:rPr>
              <a:t>GCP 各等级持久性均 ≥ AWS 对应等级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通用盘差距最大：GCP Balanced（&gt;99.999%）比 AWS gp3（99.8%–99.9%）高 2–3 个数量级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顶配也更高：GCP Extreme（&gt;6 个 9）＞ AWS io2 Block Express（5 个 9），高一个 9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AWS 仅 io2 一款达 5 个9，其余为 2–3 个9；GCP 全系最低“优于 5 个9”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0">
                <a:solidFill>
                  <a:srgbClr val="5A6B82"/>
                </a:solidFill>
                <a:latin typeface="Amazon Ember"/>
              </a:rPr>
              <a:t>99.999% 含义（GCP官方注解）：1000 个卷可跑约一百年不丢一个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mazon Ember Heavy"/>
              </a:rPr>
              <a:t>④ 撕裂写保护 (Torn Write Protection)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9D2DE"/>
                </a:solidFill>
                <a:latin typeface="Amazon Ember"/>
              </a:rPr>
              <a:t>关掉 MySQL doublewrite buffer 提升写性能——两家均提供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8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8786"/>
                <a:gridCol w="4458809"/>
                <a:gridCol w="4023803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mazon Ember"/>
                        </a:rPr>
                        <a:t>维度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mazon Ember"/>
                        </a:rPr>
                        <a:t>AWS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mazon Ember"/>
                        </a:rPr>
                        <a:t>GCP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功能名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Torn Write Prevention / RDS Optimized Writes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Torn Write Protection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原子写单位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16 KiB（Nitro 硬件保证）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128 KB（原子边界 1 MB）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实现层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Nitro System 硬件层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Titanium / Hyperdisk 层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关 doublewrite 后收益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官方最高 +30% TPS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官方最高 +25% 写吞吐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34840"/>
            <a:ext cx="11201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50" b="1">
                <a:solidFill>
                  <a:srgbClr val="232F3E"/>
                </a:solidFill>
                <a:latin typeface="Amazon Ember"/>
              </a:rPr>
              <a:t>两家均提供撕裂写保护：AWS 覆盖 EC2 / EBS / RDS，GCP 覆盖全系 Hyperdisk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50" b="0">
                <a:solidFill>
                  <a:srgbClr val="2A2A2A"/>
                </a:solidFill>
                <a:latin typeface="Amazon Ember"/>
              </a:rPr>
              <a:t>AWS 对应 RDS 功能 = RDS Optimized Writes（innodb_doublewrite=0），走 Nitro 硬件 TWP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50" b="0">
                <a:solidFill>
                  <a:srgbClr val="2A2A2A"/>
                </a:solidFill>
                <a:latin typeface="Amazon Ember"/>
              </a:rPr>
              <a:t>区别在原子写单位：AWS 16 KiB（恰配 InnoDB 页大小）／ GCP 128 KB（粒度更大）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50" b="0">
                <a:solidFill>
                  <a:srgbClr val="5A6B82"/>
                </a:solidFill>
                <a:latin typeface="Amazon Ember"/>
              </a:rPr>
              <a:t>收益口径不同（AWS 讲 TPS +30% / GCP 讲写吞吐 +25%），不宜直接比高低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mazon Ember Heavy"/>
              </a:rPr>
              <a:t>⑤ Snapshot（快照）功能对比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9D2DE"/>
                </a:solidFill>
                <a:latin typeface="Amazon Ember"/>
              </a:rPr>
              <a:t>增量备份机制相同；GCP 多一类 Instant 快照且默认全局作用域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07008"/>
          <a:ext cx="11201399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2532"/>
                <a:gridCol w="4023803"/>
                <a:gridCol w="4785064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维度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AWS EBS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GCP Hyperdisk / PD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快照类型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Standard、Archive（2 类）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Standard、Archive、Instant（3 类）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增量备份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✓ 仅存变化块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✓ 仅存变化块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资源作用域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区域级（Region）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默认全局资源（可跨区恢复）/ 可选区域级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本地即时快照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无（另有 FSR 加速恢复）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Instant：同区本地备份，分钟级恢复（源盘删即失效）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归档最短保留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90 天 + 取回费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90 天 + 取回费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频率限制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无硬性限制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单盘每 60 分钟最多 6 次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201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1">
                <a:solidFill>
                  <a:srgbClr val="232F3E"/>
                </a:solidFill>
                <a:latin typeface="Amazon Ember"/>
              </a:rPr>
              <a:t>相同：都是增量快照、可在运行中打快照、从快照建新盘不覆盖源盘、支持快照计划自动化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GCP 独有 Instant 快照：源盘同区本地备份，恢复最快（但源盘删除即失效，非异地容灾）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GCP 快照默认全局资源，可跨区/跨项目恢复共享；AWS 快照为区域级，经 EC2 API 管理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0">
                <a:solidFill>
                  <a:srgbClr val="5A6B82"/>
                </a:solidFill>
                <a:latin typeface="Amazon Ember"/>
              </a:rPr>
              <a:t>AWS 有 Fast Snapshot Restore（预热加速恢复，按 DSU-Hour 计费）；GCP 用 Instant 达到快速恢复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mazon Ember Heavy"/>
              </a:rPr>
              <a:t>⑥ 价格模型逐型对比（美国区）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9D2DE"/>
                </a:solidFill>
                <a:latin typeface="Amazon Ember"/>
              </a:rPr>
              <a:t>GCP 官方给 $/GiB-小时，已×730 换算月价；均为默认区基准价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70432"/>
          <a:ext cx="11429999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2871"/>
                <a:gridCol w="4526732"/>
                <a:gridCol w="430039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盘型 / 项目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AWS EBS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GCP Hyperdisk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通用-容量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gp3  $0.08 /GB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Balanced  $0.08 /GiB（同）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通用-IOPS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gp3  $0.005（超3000）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Balanced  $0.005（超3000，同）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通用-吞吐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gp3  $0.06 /MBps（超125）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Balanced  $0.04 /MBps（超140，更便宜）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极致-容量 / IOPS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io2  $0.125 /GB；IOPS 阶梯 $0.065/$0.046/$0.032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Extreme  $0.125 /GiB；IOPS $0.032 单一价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冷存-容量/吞吐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st1 $0.045 / sc1 $0.015（吞吐含内）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Throughput  $0.005/GiB + $0.25/MBps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高可用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（无原生）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Balanced HA  $0.16/GiB + $0.01 IOPS + $0.08 吞吐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快照-标准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$0.05 /GB-月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$0.05 /GiB-月（同）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快照-归档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$0.0125 /GB-月（+取回 $0.03/GB）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$0.019 /GiB-月（+取回费）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快照-即时 / 加速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无即时；FSR $0.75/DSU-h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Instant：Balanced $0.08 / Extreme $0.125 /GiB-月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892040"/>
            <a:ext cx="11430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1">
                <a:solidFill>
                  <a:srgbClr val="232F3E"/>
                </a:solidFill>
                <a:latin typeface="Amazon Ember"/>
              </a:rPr>
              <a:t>通用盘几乎同价（容量/IOPS 相同），GCP 吞吐略便宜+基线略高；极致盘中低 IOPS 段 GCP 便宜一半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0">
                <a:solidFill>
                  <a:srgbClr val="2A2A2A"/>
                </a:solidFill>
                <a:latin typeface="Amazon Ember"/>
              </a:rPr>
              <a:t>快照：标准层两家同价 $0.05；归档层 AWS 更便宜（$0.0125 vs $0.019/GiB-月，约低 34%）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0">
                <a:solidFill>
                  <a:srgbClr val="5A6B82"/>
                </a:solidFill>
                <a:latin typeface="Amazon Ember"/>
              </a:rPr>
              <a:t>GCP 多 Instant 快照层（本地快恢复，$0.08–0.125/GiB-月）；AWS 无即时层，加速靠 FSR 按时收费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mazon Ember Heavy"/>
              </a:rPr>
              <a:t>总结：核心结论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9D2DE"/>
                </a:solidFill>
                <a:latin typeface="Amazon Ember"/>
              </a:rPr>
              <a:t>相同点多，差异点各有侧重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201399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8688"/>
                <a:gridCol w="9492711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mazon Ember"/>
                        </a:rPr>
                        <a:t>维度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mazon Ember"/>
                        </a:rPr>
                        <a:t>结论</a:t>
                      </a:r>
                    </a:p>
                  </a:txBody>
                  <a:tcPr marL="73152" marR="45720" marT="9144" marB="9144" anchor="ctr">
                    <a:solidFill>
                      <a:srgbClr val="232F3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规格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GCP 单卷性能上限更高；GCP 独有 ML 只读2500实例扇出 + 跨AZ高可用盘型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修改性能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AWS 更灵活（24h内4次、改完即改）；密度同为 500 IOPS/GiB，GCP 单卷上限翻倍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持久性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GCP 各等级 ≥ AWS；通用盘高 2–3 个数量级，顶配高一个 9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撕裂写保护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两家均提供；AWS 原子写 16 KiB，GCP 128 KB 粒度更大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Snapshot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机制相同（增量）；GCP 多 Instant 层且默认全局作用域；归档价 AWS 更便宜</a:t>
                      </a:r>
                    </a:p>
                  </a:txBody>
                  <a:tcPr marL="73152" marR="45720" marT="9144" marB="9144" anchor="ctr">
                    <a:solidFill>
                      <a:srgbClr val="F1F3F3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32F3E"/>
                          </a:solidFill>
                          <a:latin typeface="Amazon Ember"/>
                        </a:rPr>
                        <a:t>价格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A2A2A"/>
                          </a:solidFill>
                          <a:latin typeface="Amazon Ember"/>
                        </a:rPr>
                        <a:t>通用盘基本同价（GCP吞吐略省）；极致盘中低IOPS段 GCP 便宜一半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257800"/>
            <a:ext cx="11201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8500"/>
                </a:solidFill>
                <a:latin typeface="Amazon Ember Heavy"/>
              </a:rPr>
              <a:t>一句话：</a:t>
            </a:r>
            <a:r>
              <a:rPr sz="1300" b="0">
                <a:solidFill>
                  <a:srgbClr val="2A2A2A"/>
                </a:solidFill>
                <a:latin typeface="Amazon Ember"/>
              </a:rPr>
              <a:t>两者架构理念高度一致；GCP 在性能上限、持久性、AI只读扇出、跨AZ高可用上更强，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A2A2A"/>
                </a:solidFill>
                <a:latin typeface="Amazon Ember"/>
              </a:rPr>
              <a:t>AWS 在“修改性能灵活度”、HDD 冷存细分、生态成熟度上更优；通用盘价格几乎持平。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232F3E"/>
                </a:solidFill>
                <a:latin typeface="Amazon Ember"/>
              </a:rPr>
              <a:t>★ 数据来源：AWS 官方文档 / GCP Cloud 官方文档（美国区，2026-07）。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