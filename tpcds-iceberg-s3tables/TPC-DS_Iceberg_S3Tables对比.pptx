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51760"/>
            <a:ext cx="12191695" cy="381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640080"/>
            <a:ext cx="2743200" cy="5029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27432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TPC-DS · Iceberg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60704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S3 Tables vs 自管 Iceberg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1060704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900" b="0">
                <a:solidFill>
                  <a:srgbClr val="9FC4EA"/>
                </a:solidFill>
                <a:latin typeface="Microsoft YaHei"/>
              </a:rPr>
              <a:t>compaction / 无 compaction 三组对比 · SF200 与 SF2000 双规模 · 含压缩时间对比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52160"/>
            <a:ext cx="10607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5A6B82"/>
                </a:solidFill>
                <a:latin typeface="Microsoft YaHei"/>
              </a:rPr>
              <a:t>EMR on EC2 (emr-7.13.0, Spark 3.5.6, Iceberg) · us-east-2 · 6×r6i.4xlarge · 103 SQL × 3 轮 · 2026-08-11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测试设计：唯一变量 = compaction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同一 EMR 集群 / 同 Spark 资源(22×4×18g) / 同源 Parquet / 行数校验一致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566160" cy="2651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3566160" cy="64008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35661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A  S3 Tables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68880"/>
            <a:ext cx="3017520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1000"/>
              </a:spcBef>
            </a:pPr>
            <a:r>
              <a:rPr sz="1350" b="0">
                <a:solidFill>
                  <a:srgbClr val="1A2B4A"/>
                </a:solidFill>
                <a:latin typeface="Microsoft YaHei"/>
              </a:rPr>
              <a:t>• 托管 Iceberg catalog</a:t>
            </a:r>
          </a:p>
          <a:p>
            <a:pPr algn="l">
              <a:spcBef>
                <a:spcPts val="1000"/>
              </a:spcBef>
            </a:pPr>
            <a:r>
              <a:rPr sz="1350" b="0">
                <a:solidFill>
                  <a:srgbClr val="1A2B4A"/>
                </a:solidFill>
                <a:latin typeface="Microsoft YaHei"/>
              </a:rPr>
              <a:t>• 自动 compaction</a:t>
            </a:r>
          </a:p>
          <a:p>
            <a:pPr algn="l">
              <a:spcBef>
                <a:spcPts val="1000"/>
              </a:spcBef>
            </a:pPr>
            <a:r>
              <a:rPr sz="1350" b="0">
                <a:solidFill>
                  <a:srgbClr val="1A2B4A"/>
                </a:solidFill>
                <a:latin typeface="Microsoft YaHei"/>
              </a:rPr>
              <a:t>• 零运维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566160" cy="2651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00200"/>
            <a:ext cx="3566160" cy="64008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600200"/>
            <a:ext cx="35661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B  自管 + 手动压缩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468880"/>
            <a:ext cx="3017520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1000"/>
              </a:spcBef>
            </a:pPr>
            <a:r>
              <a:rPr sz="1350" b="0">
                <a:solidFill>
                  <a:srgbClr val="1A2B4A"/>
                </a:solidFill>
                <a:latin typeface="Microsoft YaHei"/>
              </a:rPr>
              <a:t>• Hadoop catalog</a:t>
            </a:r>
          </a:p>
          <a:p>
            <a:pPr algn="l">
              <a:spcBef>
                <a:spcPts val="1000"/>
              </a:spcBef>
            </a:pPr>
            <a:r>
              <a:rPr sz="1350" b="0">
                <a:solidFill>
                  <a:srgbClr val="1A2B4A"/>
                </a:solidFill>
                <a:latin typeface="Microsoft YaHei"/>
              </a:rPr>
              <a:t>• 手动 rewrite_data_files</a:t>
            </a:r>
          </a:p>
          <a:p>
            <a:pPr algn="l">
              <a:spcBef>
                <a:spcPts val="1000"/>
              </a:spcBef>
            </a:pPr>
            <a:r>
              <a:rPr sz="1350" b="0">
                <a:solidFill>
                  <a:srgbClr val="1A2B4A"/>
                </a:solidFill>
                <a:latin typeface="Microsoft YaHei"/>
              </a:rPr>
              <a:t>• 基准 = 1.00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566160" cy="2651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1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00200"/>
            <a:ext cx="3566160" cy="640080"/>
          </a:xfrm>
          <a:prstGeom prst="rect">
            <a:avLst/>
          </a:prstGeom>
          <a:solidFill>
            <a:srgbClr val="D1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1600200"/>
            <a:ext cx="35661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C  自管 无压缩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468880"/>
            <a:ext cx="3017520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1000"/>
              </a:spcBef>
            </a:pPr>
            <a:r>
              <a:rPr sz="1350" b="0">
                <a:solidFill>
                  <a:srgbClr val="1A2B4A"/>
                </a:solidFill>
                <a:latin typeface="Microsoft YaHei"/>
              </a:rPr>
              <a:t>• Hadoop catalog</a:t>
            </a:r>
          </a:p>
          <a:p>
            <a:pPr algn="l">
              <a:spcBef>
                <a:spcPts val="1000"/>
              </a:spcBef>
            </a:pPr>
            <a:r>
              <a:rPr sz="1350" b="0">
                <a:solidFill>
                  <a:srgbClr val="1A2B4A"/>
                </a:solidFill>
                <a:latin typeface="Microsoft YaHei"/>
              </a:rPr>
              <a:t>• 保持 8MB 小文件</a:t>
            </a:r>
          </a:p>
          <a:p>
            <a:pPr algn="l">
              <a:spcBef>
                <a:spcPts val="1000"/>
              </a:spcBef>
            </a:pPr>
            <a:r>
              <a:rPr sz="1350" b="0">
                <a:solidFill>
                  <a:srgbClr val="1A2B4A"/>
                </a:solidFill>
                <a:latin typeface="Microsoft YaHei"/>
              </a:rPr>
              <a:t>• 不做 compaction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480560"/>
            <a:ext cx="10881360" cy="1737360"/>
          </a:xfrm>
          <a:prstGeom prst="round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617720"/>
            <a:ext cx="10424160" cy="1554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0067C5"/>
                </a:solidFill>
                <a:latin typeface="Microsoft YaHei"/>
              </a:rPr>
              <a:t>对齐要点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2B4A"/>
                </a:solidFill>
                <a:latin typeface="Microsoft YaHei"/>
              </a:rPr>
              <a:t>• 两个规模：SF200(200GB) 与 SF2000(2TB)；B/C 用完全相同的 8MB 小文件写入,只对 B 压缩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A2B4A"/>
                </a:solidFill>
                <a:latin typeface="Microsoft YaHei"/>
              </a:rPr>
              <a:t>• 主指标 = warm 均值(第2、3轮平均,剔除冷启动)；查询集 tpcds_2_4 共 103 SQL × 3 轮,0 报错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A2B4A"/>
                </a:solidFill>
                <a:latin typeface="Microsoft YaHei"/>
              </a:rPr>
              <a:t>• 行数三组校验一致：SF2000 store_sales=55亿 / catalog_sales=28.7亿(恰为 SF200 的 10×)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查询性能：compaction 是决定性的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无 compaction 从 SF200 慢 58% → SF2000 慢 152%(2.5×),规模越大越糟</a:t>
            </a:r>
          </a:p>
        </p:txBody>
      </p:sp>
      <p:pic>
        <p:nvPicPr>
          <p:cNvPr id="7" name="Picture 6" descr="tp_chart_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6858000" cy="396478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80960" y="1508760"/>
            <a:ext cx="3931920" cy="4709160"/>
          </a:xfrm>
          <a:prstGeom prst="round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1691640"/>
            <a:ext cx="3520440" cy="4434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0067C5"/>
                </a:solidFill>
                <a:latin typeface="Microsoft YaHei"/>
              </a:rPr>
              <a:t>warm 总耗时(秒)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1A2B4A"/>
                </a:solidFill>
                <a:latin typeface="Microsoft YaHei"/>
              </a:rPr>
              <a:t>SF200:  A=451.8  B=489.4  C=770.6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1A2B4A"/>
                </a:solidFill>
                <a:latin typeface="Microsoft YaHei"/>
              </a:rPr>
              <a:t>SF2000: A=2256.7 B=2065.2 C=5195.7</a:t>
            </a:r>
          </a:p>
          <a:p>
            <a:pPr algn="l">
              <a:spcBef>
                <a:spcPts val="1400"/>
              </a:spcBef>
            </a:pPr>
            <a:r>
              <a:rPr sz="1400" b="1">
                <a:solidFill>
                  <a:srgbClr val="F58220"/>
                </a:solidFill>
                <a:latin typeface="Microsoft YaHei"/>
              </a:rPr>
              <a:t>关键发现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A2B4A"/>
                </a:solidFill>
                <a:latin typeface="Microsoft YaHei"/>
              </a:rPr>
              <a:t>• C 无压缩:SF2000 下 94/103 条查询比 B 慢 &gt;20%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1A2B4A"/>
                </a:solidFill>
                <a:latin typeface="Microsoft YaHei"/>
              </a:rPr>
              <a:t>• 扫描密集型(q14a/b、q75、q23)慢 2.6–3.8×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1A2B4A"/>
                </a:solidFill>
                <a:latin typeface="Microsoft YaHei"/>
              </a:rPr>
              <a:t>• 单查询最多多耗 +129 秒(q14a)</a:t>
            </a:r>
          </a:p>
          <a:p>
            <a:pPr algn="l">
              <a:spcBef>
                <a:spcPts val="800"/>
              </a:spcBef>
            </a:pPr>
            <a:r>
              <a:rPr sz="1200" b="1">
                <a:solidFill>
                  <a:srgbClr val="D13A3A"/>
                </a:solidFill>
                <a:latin typeface="Microsoft YaHei"/>
              </a:rPr>
              <a:t>• C 多轮不提速——小文件开销是结构性的,缓存救不了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⚠️ Compaction 时间对比：自动 vs 手动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最重要运维发现：S3 Tables 自动压缩是异步的,延迟随规模显著变长</a:t>
            </a:r>
          </a:p>
        </p:txBody>
      </p:sp>
      <p:pic>
        <p:nvPicPr>
          <p:cNvPr id="7" name="Picture 6" descr="tp_chart_co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6858000" cy="396478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80960" y="1508760"/>
            <a:ext cx="3931920" cy="4709160"/>
          </a:xfrm>
          <a:prstGeom prst="round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1691640"/>
            <a:ext cx="3520440" cy="4434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50" b="1">
                <a:solidFill>
                  <a:srgbClr val="0067C5"/>
                </a:solidFill>
                <a:latin typeface="Microsoft YaHei"/>
              </a:rPr>
              <a:t>大表(store_sales)压完耗时</a:t>
            </a:r>
          </a:p>
          <a:p>
            <a:pPr algn="l">
              <a:spcBef>
                <a:spcPts val="1000"/>
              </a:spcBef>
            </a:pPr>
            <a:r>
              <a:rPr sz="1300" b="1">
                <a:solidFill>
                  <a:srgbClr val="6A5ACD"/>
                </a:solidFill>
                <a:latin typeface="Microsoft YaHei"/>
              </a:rPr>
              <a:t>A: S3 Tables 自动(异步)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1A2B4A"/>
                </a:solidFill>
                <a:latin typeface="Microsoft YaHei"/>
              </a:rPr>
              <a:t>  SF200  → ~70 分钟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1A2B4A"/>
                </a:solidFill>
                <a:latin typeface="Microsoft YaHei"/>
              </a:rPr>
              <a:t>  SF2000 → ~2.5–3 小时</a:t>
            </a:r>
          </a:p>
          <a:p>
            <a:pPr algn="l">
              <a:spcBef>
                <a:spcPts val="1000"/>
              </a:spcBef>
            </a:pPr>
            <a:r>
              <a:rPr sz="1300" b="1">
                <a:solidFill>
                  <a:srgbClr val="F58220"/>
                </a:solidFill>
                <a:latin typeface="Microsoft YaHei"/>
              </a:rPr>
              <a:t>B: 自管手动(即时按需)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1A2B4A"/>
                </a:solidFill>
                <a:latin typeface="Microsoft YaHei"/>
              </a:rPr>
              <a:t>  SF200  → ~10 分钟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1A2B4A"/>
                </a:solidFill>
                <a:latin typeface="Microsoft YaHei"/>
              </a:rPr>
              <a:t>  SF2000 → ~12 分钟(27142→389)</a:t>
            </a:r>
          </a:p>
          <a:p>
            <a:pPr algn="l">
              <a:spcBef>
                <a:spcPts val="1200"/>
              </a:spcBef>
            </a:pPr>
            <a:r>
              <a:rPr sz="1400" b="1">
                <a:solidFill>
                  <a:srgbClr val="D13A3A"/>
                </a:solidFill>
                <a:latin typeface="Microsoft YaHei"/>
              </a:rPr>
              <a:t>取舍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A2B4A"/>
                </a:solidFill>
                <a:latin typeface="Microsoft YaHei"/>
              </a:rPr>
              <a:t>自动=零运维,但新数据有"未压窗口"且随规模变长;手动=运维换即时可控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小文件问题：无 compaction ≈ 70 倍文件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文件数暴增是查询变慢的根因——planning/list 开销结构性放大</a:t>
            </a:r>
          </a:p>
        </p:txBody>
      </p:sp>
      <p:pic>
        <p:nvPicPr>
          <p:cNvPr id="7" name="Picture 6" descr="tp_chart_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6858000" cy="396478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80960" y="1508760"/>
            <a:ext cx="3931920" cy="4709160"/>
          </a:xfrm>
          <a:prstGeom prst="round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1691640"/>
            <a:ext cx="3520440" cy="4434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0067C5"/>
                </a:solidFill>
                <a:latin typeface="Microsoft YaHei"/>
              </a:rPr>
              <a:t>store_sales 文件数</a:t>
            </a:r>
          </a:p>
          <a:p>
            <a:pPr algn="l">
              <a:spcBef>
                <a:spcPts val="800"/>
              </a:spcBef>
            </a:pPr>
            <a:r>
              <a:rPr sz="1250" b="0">
                <a:solidFill>
                  <a:srgbClr val="1A2B4A"/>
                </a:solidFill>
                <a:latin typeface="Microsoft YaHei"/>
              </a:rPr>
              <a:t>SF200:  A=38  B=38  C=2674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1A2B4A"/>
                </a:solidFill>
                <a:latin typeface="Microsoft YaHei"/>
              </a:rPr>
              <a:t>SF2000: A=389 B=389 C=27142</a:t>
            </a:r>
          </a:p>
          <a:p>
            <a:pPr algn="l">
              <a:spcBef>
                <a:spcPts val="1400"/>
              </a:spcBef>
            </a:pPr>
            <a:r>
              <a:rPr sz="1400" b="1">
                <a:solidFill>
                  <a:srgbClr val="F58220"/>
                </a:solidFill>
                <a:latin typeface="Microsoft YaHei"/>
              </a:rPr>
              <a:t>结论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A2B4A"/>
                </a:solidFill>
                <a:latin typeface="Microsoft YaHei"/>
              </a:rPr>
              <a:t>• A 与 B 大表最终文件数完全一致(都收敛 512MB target)</a:t>
            </a:r>
          </a:p>
          <a:p>
            <a:pPr algn="l">
              <a:spcBef>
                <a:spcPts val="800"/>
              </a:spcBef>
            </a:pPr>
            <a:r>
              <a:rPr sz="1200" b="1">
                <a:solidFill>
                  <a:srgbClr val="2E9E5B"/>
                </a:solidFill>
                <a:latin typeface="Microsoft YaHei"/>
              </a:rPr>
              <a:t>• 托管自动压缩与手动压缩查询性能等价(warm 差异仅 8–9%,无系统性优劣)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1A2B4A"/>
                </a:solidFill>
                <a:latin typeface="Microsoft YaHei"/>
              </a:rPr>
              <a:t>• inventory 表:SF200 时 S3 Tables 保守不压,SF2000 越阈值才压——自动策略按体量判定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选型建议与结论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三组核心结论 + 场景选型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7863840" cy="5029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59436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场景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554480"/>
            <a:ext cx="173736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推荐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057400"/>
            <a:ext cx="786384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57400"/>
            <a:ext cx="576072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不想运维 compaction/snapshot,能接受新数据"未压窗口"(分钟~小时,随规模增长)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057400"/>
            <a:ext cx="173736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0067C5"/>
                </a:solidFill>
                <a:latin typeface="Microsoft YaHei"/>
              </a:rPr>
              <a:t>S3 Tables (A)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971800"/>
            <a:ext cx="7863840" cy="9144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971800"/>
            <a:ext cx="576072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需要新写入数据即时最优性能,或对 compaction 时机/策略要求精细可控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971800"/>
            <a:ext cx="173736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2E9E5B"/>
                </a:solidFill>
                <a:latin typeface="Microsoft YaHei"/>
              </a:rPr>
              <a:t>自管+手动 (B)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886200"/>
            <a:ext cx="786384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86200"/>
            <a:ext cx="576072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任何生产场景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886200"/>
            <a:ext cx="173736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D13A3A"/>
                </a:solidFill>
                <a:latin typeface="Microsoft YaHei"/>
              </a:rPr>
              <a:t>务必做 compaction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1554480"/>
            <a:ext cx="2880360" cy="4434840"/>
          </a:xfrm>
          <a:prstGeom prst="round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1737360"/>
            <a:ext cx="2468880" cy="4160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F58220"/>
                </a:solidFill>
                <a:latin typeface="Microsoft YaHei"/>
              </a:rPr>
              <a:t>三大结论</a:t>
            </a:r>
          </a:p>
          <a:p>
            <a:pPr algn="l">
              <a:spcBef>
                <a:spcPts val="1200"/>
              </a:spcBef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① Compaction 决定性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9D6E6"/>
                </a:solidFill>
                <a:latin typeface="Microsoft YaHei"/>
              </a:rPr>
              <a:t>规模越大越关键,2TB 无压慢 2.5×</a:t>
            </a:r>
          </a:p>
          <a:p>
            <a:pPr algn="l">
              <a:spcBef>
                <a:spcPts val="1200"/>
              </a:spcBef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② 托管≈手动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9D6E6"/>
                </a:solidFill>
                <a:latin typeface="Microsoft YaHei"/>
              </a:rPr>
              <a:t>查询性能等价,差异仅 8–9%</a:t>
            </a:r>
          </a:p>
          <a:p>
            <a:pPr algn="l">
              <a:spcBef>
                <a:spcPts val="1200"/>
              </a:spcBef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③ 自动压缩有异步延迟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9D6E6"/>
                </a:solidFill>
                <a:latin typeface="Microsoft YaHei"/>
              </a:rPr>
              <a:t>且随规模变长(70min→3h)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5A6B82"/>
                </a:solidFill>
                <a:latin typeface="Microsoft YaHei"/>
              </a:rPr>
              <a:t>原始数据:s3://tpcds-iceberg-bench-20260811/results/{sf200,sf2000}/  ·  方法:PySpark bench.py 每查询 noop write 完整执行计时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