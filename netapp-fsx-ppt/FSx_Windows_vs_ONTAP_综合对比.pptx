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651760"/>
            <a:ext cx="12191695" cy="3810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697480"/>
            <a:ext cx="12191695" cy="18288"/>
          </a:xfrm>
          <a:prstGeom prst="rect">
            <a:avLst/>
          </a:prstGeom>
          <a:solidFill>
            <a:srgbClr val="006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789920" cy="12801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Microsoft YaHei"/>
              </a:rPr>
              <a:t>FSx for Windows File Server</a:t>
            </a:r>
          </a:p>
          <a:p>
            <a:pPr algn="l">
              <a:spcBef>
                <a:spcPts val="400"/>
              </a:spcBef>
            </a:pPr>
            <a:r>
              <a:rPr sz="4000" b="1">
                <a:solidFill>
                  <a:srgbClr val="9FC4EA"/>
                </a:solidFill>
                <a:latin typeface="Microsoft YaHei"/>
              </a:rPr>
              <a:t>vs  FSx for NetApp ONTAP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26080"/>
            <a:ext cx="1078992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800" b="0">
                <a:solidFill>
                  <a:srgbClr val="9FC4EA"/>
                </a:solidFill>
                <a:latin typeface="Microsoft YaHei"/>
              </a:rPr>
              <a:t>存储管理 · 数据分层 · 存储效率 · 快照与备份 · 监控 · Derby 数据库落盘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806440"/>
            <a:ext cx="1078992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5A6B82"/>
                </a:solidFill>
                <a:latin typeface="Microsoft YaHei"/>
              </a:rPr>
              <a:t>资料来源：AWS FSx 官方文档 + NetApp docs.netapp.com + Apache Derby 文档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5A6B82"/>
                </a:solidFill>
                <a:latin typeface="Microsoft YaHei"/>
              </a:rPr>
              <a:t>实测环境：Ohio us-east-2  FSx ONTAP 9.17.1P7（FsxId011719cc94111ed47）  |  2026-06-14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40080"/>
            <a:ext cx="2377440" cy="502920"/>
          </a:xfrm>
          <a:prstGeom prst="rect">
            <a:avLst/>
          </a:prstGeom>
          <a:solidFill>
            <a:srgbClr val="006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40080"/>
            <a:ext cx="237744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AWS FSx 存储深度对比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6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51560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Microsoft YaHei"/>
              </a:rPr>
              <a:t>一、FSx Windows vs FSx ONTAP 通用介绍与使用差别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78992"/>
            <a:ext cx="11155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5A6B82"/>
                </a:solidFill>
                <a:latin typeface="Microsoft YaHei"/>
              </a:rPr>
              <a:t>两者都是 AWS 全托管文件服务，但定位、协议、能力差异显著（纯文档对比）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25880"/>
            <a:ext cx="5486400" cy="4937760"/>
          </a:xfrm>
          <a:prstGeom prst="round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1325880"/>
            <a:ext cx="5486400" cy="548640"/>
          </a:xfrm>
          <a:prstGeom prst="roundRect">
            <a:avLst/>
          </a:prstGeom>
          <a:solidFill>
            <a:srgbClr val="2E8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325880"/>
            <a:ext cx="502920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"/>
              </a:rPr>
              <a:t>FSx for Windows File Server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011680"/>
            <a:ext cx="4937760" cy="4114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1A2B4A"/>
                </a:solidFill>
                <a:latin typeface="Microsoft YaHei"/>
              </a:rPr>
              <a:t>• 原生 Windows 文件系统（NTFS）</a:t>
            </a:r>
          </a:p>
          <a:p>
            <a:pPr algn="l">
              <a:spcBef>
                <a:spcPts val="700"/>
              </a:spcBef>
            </a:pPr>
            <a:r>
              <a:rPr sz="1300" b="1">
                <a:solidFill>
                  <a:srgbClr val="F58220"/>
                </a:solidFill>
                <a:latin typeface="Microsoft YaHei"/>
              </a:rPr>
              <a:t>• 仅 SMB 协议（2.0 – 3.1.1），单协议</a:t>
            </a:r>
          </a:p>
          <a:p>
            <a:pPr algn="l">
              <a:spcBef>
                <a:spcPts val="700"/>
              </a:spcBef>
            </a:pPr>
            <a:r>
              <a:rPr sz="1300" b="0">
                <a:solidFill>
                  <a:srgbClr val="1A2B4A"/>
                </a:solidFill>
                <a:latin typeface="Microsoft YaHei"/>
              </a:rPr>
              <a:t>• 深度集成 AD / NTFS ACL / DFS</a:t>
            </a:r>
          </a:p>
          <a:p>
            <a:pPr algn="l">
              <a:spcBef>
                <a:spcPts val="700"/>
              </a:spcBef>
            </a:pPr>
            <a:r>
              <a:rPr sz="1300" b="0">
                <a:solidFill>
                  <a:srgbClr val="1A2B4A"/>
                </a:solidFill>
                <a:latin typeface="Microsoft YaHei"/>
              </a:rPr>
              <a:t>• 备份基于 VSS（卷影复制）保证一致性</a:t>
            </a:r>
          </a:p>
          <a:p>
            <a:pPr algn="l">
              <a:spcBef>
                <a:spcPts val="700"/>
              </a:spcBef>
            </a:pPr>
            <a:r>
              <a:rPr sz="1300" b="0">
                <a:solidFill>
                  <a:srgbClr val="1A2B4A"/>
                </a:solidFill>
                <a:latin typeface="Microsoft YaHei"/>
              </a:rPr>
              <a:t>• 典型用例：企业 Windows 应用、用户主目录、</a:t>
            </a:r>
          </a:p>
          <a:p>
            <a:pPr algn="l">
              <a:spcBef>
                <a:spcPts val="100"/>
              </a:spcBef>
            </a:pPr>
            <a:r>
              <a:rPr sz="1300" b="0">
                <a:solidFill>
                  <a:srgbClr val="5A6B82"/>
                </a:solidFill>
                <a:latin typeface="Microsoft YaHei"/>
              </a:rPr>
              <a:t>   文件共享、内容管理、媒体处理</a:t>
            </a:r>
          </a:p>
          <a:p>
            <a:pPr algn="l">
              <a:spcBef>
                <a:spcPts val="700"/>
              </a:spcBef>
            </a:pPr>
            <a:r>
              <a:rPr sz="1300" b="0">
                <a:solidFill>
                  <a:srgbClr val="1A2B4A"/>
                </a:solidFill>
                <a:latin typeface="Microsoft YaHei"/>
              </a:rPr>
              <a:t>• 管理：FSx 控制台 / API / Windows 工具</a:t>
            </a:r>
          </a:p>
          <a:p>
            <a:pPr algn="l">
              <a:spcBef>
                <a:spcPts val="100"/>
              </a:spcBef>
            </a:pPr>
            <a:r>
              <a:rPr sz="1300" b="0">
                <a:solidFill>
                  <a:srgbClr val="5A6B82"/>
                </a:solidFill>
                <a:latin typeface="Microsoft YaHei"/>
              </a:rPr>
              <a:t>   （PowerShell、共享文件夹 GUI）</a:t>
            </a:r>
          </a:p>
          <a:p>
            <a:pPr algn="l">
              <a:spcBef>
                <a:spcPts val="700"/>
              </a:spcBef>
            </a:pPr>
            <a:r>
              <a:rPr sz="1300" b="1">
                <a:solidFill>
                  <a:srgbClr val="2E9E5B"/>
                </a:solidFill>
                <a:latin typeface="Microsoft YaHei"/>
              </a:rPr>
              <a:t>• 适合：纯 Windows 生态、要求 SMB 与 AD</a:t>
            </a:r>
          </a:p>
          <a:p>
            <a:pPr algn="l">
              <a:spcBef>
                <a:spcPts val="100"/>
              </a:spcBef>
            </a:pPr>
            <a:r>
              <a:rPr sz="1300" b="1">
                <a:solidFill>
                  <a:srgbClr val="2E9E5B"/>
                </a:solidFill>
                <a:latin typeface="Microsoft YaHei"/>
              </a:rPr>
              <a:t>   原生兼容的场景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325880"/>
            <a:ext cx="5532120" cy="4937760"/>
          </a:xfrm>
          <a:prstGeom prst="round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72200" y="1325880"/>
            <a:ext cx="5532120" cy="548640"/>
          </a:xfrm>
          <a:prstGeom prst="roundRect">
            <a:avLst/>
          </a:prstGeom>
          <a:solidFill>
            <a:srgbClr val="006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325880"/>
            <a:ext cx="502920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"/>
              </a:rPr>
              <a:t>FSx for NetApp ONTAP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011680"/>
            <a:ext cx="5029200" cy="4114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1A2B4A"/>
                </a:solidFill>
                <a:latin typeface="Microsoft YaHei"/>
              </a:rPr>
              <a:t>• NetApp ONTAP 企业存储（WAFL 文件系统）</a:t>
            </a:r>
          </a:p>
          <a:p>
            <a:pPr algn="l">
              <a:spcBef>
                <a:spcPts val="700"/>
              </a:spcBef>
            </a:pPr>
            <a:r>
              <a:rPr sz="1300" b="1">
                <a:solidFill>
                  <a:srgbClr val="F58220"/>
                </a:solidFill>
                <a:latin typeface="Microsoft YaHei"/>
              </a:rPr>
              <a:t>• 多协议：NFS + SMB + iSCSI 同时支持</a:t>
            </a:r>
          </a:p>
          <a:p>
            <a:pPr algn="l">
              <a:spcBef>
                <a:spcPts val="700"/>
              </a:spcBef>
            </a:pPr>
            <a:r>
              <a:rPr sz="1300" b="1">
                <a:solidFill>
                  <a:srgbClr val="6A5ACD"/>
                </a:solidFill>
                <a:latin typeface="Microsoft YaHei"/>
              </a:rPr>
              <a:t>• SSD 主存储 + 容量池自动分层（FabricPool）</a:t>
            </a:r>
          </a:p>
          <a:p>
            <a:pPr algn="l">
              <a:spcBef>
                <a:spcPts val="700"/>
              </a:spcBef>
            </a:pPr>
            <a:r>
              <a:rPr sz="1300" b="0">
                <a:solidFill>
                  <a:srgbClr val="1A2B4A"/>
                </a:solidFill>
                <a:latin typeface="Microsoft YaHei"/>
              </a:rPr>
              <a:t>• 存储效率：去重/压缩/压实，节省空间</a:t>
            </a:r>
          </a:p>
          <a:p>
            <a:pPr algn="l">
              <a:spcBef>
                <a:spcPts val="700"/>
              </a:spcBef>
            </a:pPr>
            <a:r>
              <a:rPr sz="1300" b="0">
                <a:solidFill>
                  <a:srgbClr val="1A2B4A"/>
                </a:solidFill>
                <a:latin typeface="Microsoft YaHei"/>
              </a:rPr>
              <a:t>• 快照 + SnapMirror 复制 + AWS Backup</a:t>
            </a:r>
          </a:p>
          <a:p>
            <a:pPr algn="l">
              <a:spcBef>
                <a:spcPts val="700"/>
              </a:spcBef>
            </a:pPr>
            <a:r>
              <a:rPr sz="1300" b="0">
                <a:solidFill>
                  <a:srgbClr val="1A2B4A"/>
                </a:solidFill>
                <a:latin typeface="Microsoft YaHei"/>
              </a:rPr>
              <a:t>• 典型用例：跨平台共享、数据库、容器、</a:t>
            </a:r>
          </a:p>
          <a:p>
            <a:pPr algn="l">
              <a:spcBef>
                <a:spcPts val="100"/>
              </a:spcBef>
            </a:pPr>
            <a:r>
              <a:rPr sz="1300" b="0">
                <a:solidFill>
                  <a:srgbClr val="5A6B82"/>
                </a:solidFill>
                <a:latin typeface="Microsoft YaHei"/>
              </a:rPr>
              <a:t>   迁移上云、需要存储效率与分层的场景</a:t>
            </a:r>
          </a:p>
          <a:p>
            <a:pPr algn="l">
              <a:spcBef>
                <a:spcPts val="700"/>
              </a:spcBef>
            </a:pPr>
            <a:r>
              <a:rPr sz="1300" b="0">
                <a:solidFill>
                  <a:srgbClr val="1A2B4A"/>
                </a:solidFill>
                <a:latin typeface="Microsoft YaHei"/>
              </a:rPr>
              <a:t>• 管理：FSx 控制台 / API + ONTAP CLI / </a:t>
            </a:r>
          </a:p>
          <a:p>
            <a:pPr algn="l">
              <a:spcBef>
                <a:spcPts val="100"/>
              </a:spcBef>
            </a:pPr>
            <a:r>
              <a:rPr sz="1300" b="0">
                <a:solidFill>
                  <a:srgbClr val="5A6B82"/>
                </a:solidFill>
                <a:latin typeface="Microsoft YaHei"/>
              </a:rPr>
              <a:t>   REST API / System Manager（多一层）</a:t>
            </a:r>
          </a:p>
          <a:p>
            <a:pPr algn="l">
              <a:spcBef>
                <a:spcPts val="700"/>
              </a:spcBef>
            </a:pPr>
            <a:r>
              <a:rPr sz="1300" b="1">
                <a:solidFill>
                  <a:srgbClr val="2E9E5B"/>
                </a:solidFill>
                <a:latin typeface="Microsoft YaHei"/>
              </a:rPr>
              <a:t>• 适合：混合协议、企业级存储特性需求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19088"/>
            <a:ext cx="112471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50" b="0">
                <a:solidFill>
                  <a:srgbClr val="5A6B82"/>
                </a:solidFill>
                <a:latin typeface="Microsoft YaHei"/>
              </a:rPr>
              <a:t>来源：AWS《What is FSx for Windows File Server》《FSx for ONTAP Guide》官方文档。SMB 版本 2.0–3.1.1 为 Windows 文档明确说明。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6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51560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Microsoft YaHei"/>
              </a:rPr>
              <a:t>二、ONTAP 存储管理（1）：SSD 主存储 vs 容量池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78992"/>
            <a:ext cx="11155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5A6B82"/>
                </a:solidFill>
                <a:latin typeface="Microsoft YaHei"/>
              </a:rPr>
              <a:t>FSx ONTAP 两个物理存储层：高性能 SSD 主层 + 弹性容量池（FabricPool）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25880"/>
            <a:ext cx="5029200" cy="4937760"/>
          </a:xfrm>
          <a:prstGeom prst="round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45720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700" b="1">
                <a:solidFill>
                  <a:srgbClr val="0067C5"/>
                </a:solidFill>
                <a:latin typeface="Microsoft YaHei"/>
              </a:rPr>
              <a:t>两个存储层（官方定义）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74519"/>
            <a:ext cx="4572000" cy="42976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2E9E5B"/>
                </a:solidFill>
                <a:latin typeface="Microsoft YaHei"/>
              </a:rPr>
              <a:t>• SSD 主存储层 (Primary/Performance)</a:t>
            </a:r>
          </a:p>
          <a:p>
            <a:pPr algn="l">
              <a:spcBef>
                <a:spcPts val="100"/>
              </a:spcBef>
            </a:pPr>
            <a:r>
              <a:rPr sz="1200" b="0">
                <a:solidFill>
                  <a:srgbClr val="5A6B82"/>
                </a:solidFill>
                <a:latin typeface="Microsoft YaHei"/>
              </a:rPr>
              <a:t>   用户配置、高性能、放活跃数据集</a:t>
            </a:r>
          </a:p>
          <a:p>
            <a:pPr algn="l">
              <a:spcBef>
                <a:spcPts val="600"/>
              </a:spcBef>
            </a:pPr>
            <a:r>
              <a:rPr sz="1300" b="1">
                <a:solidFill>
                  <a:srgbClr val="6A5ACD"/>
                </a:solidFill>
                <a:latin typeface="Microsoft YaHei"/>
              </a:rPr>
              <a:t>• 容量池层 (Capacity Pool)</a:t>
            </a:r>
          </a:p>
          <a:p>
            <a:pPr algn="l">
              <a:spcBef>
                <a:spcPts val="100"/>
              </a:spcBef>
            </a:pPr>
            <a:r>
              <a:rPr sz="1200" b="0">
                <a:solidFill>
                  <a:srgbClr val="5A6B82"/>
                </a:solidFill>
                <a:latin typeface="Microsoft YaHei"/>
              </a:rPr>
              <a:t>   全弹性、自动扩展到 PB 级、成本优化，</a:t>
            </a:r>
          </a:p>
          <a:p>
            <a:pPr algn="l">
              <a:spcBef>
                <a:spcPts val="100"/>
              </a:spcBef>
            </a:pPr>
            <a:r>
              <a:rPr sz="1200" b="0">
                <a:solidFill>
                  <a:srgbClr val="5A6B82"/>
                </a:solidFill>
                <a:latin typeface="Microsoft YaHei"/>
              </a:rPr>
              <a:t>   存放不常访问的冷数据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A2B4A"/>
                </a:solidFill>
                <a:latin typeface="Microsoft YaHei"/>
              </a:rPr>
              <a:t>• ONTAP 软件预留约 16% SSD 容量（开销）</a:t>
            </a:r>
          </a:p>
          <a:p>
            <a:pPr algn="l">
              <a:spcBef>
                <a:spcPts val="100"/>
              </a:spcBef>
            </a:pPr>
            <a:r>
              <a:rPr sz="1100" b="0">
                <a:solidFill>
                  <a:srgbClr val="5A6B82"/>
                </a:solidFill>
                <a:latin typeface="Microsoft YaHei"/>
              </a:rPr>
              <a:t>   11% 软件 + 5% 聚合快照（&gt;30TiB 为 6%）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A2B4A"/>
                </a:solidFill>
                <a:latin typeface="Microsoft YaHei"/>
              </a:rPr>
              <a:t>• 文件元数据始终留在 SSD（约占数据 3-7%）</a:t>
            </a:r>
          </a:p>
          <a:p>
            <a:pPr algn="l">
              <a:spcBef>
                <a:spcPts val="600"/>
              </a:spcBef>
            </a:pPr>
            <a:r>
              <a:rPr sz="1200" b="1">
                <a:solidFill>
                  <a:srgbClr val="F58220"/>
                </a:solidFill>
                <a:latin typeface="Microsoft YaHei"/>
              </a:rPr>
              <a:t>• 所有写入先落 SSD，再按策略分层到容量池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A2B4A"/>
                </a:solidFill>
                <a:latin typeface="Microsoft YaHei"/>
              </a:rPr>
              <a:t>• 卷是虚拟资源，本身不占容量；精简配置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15000" y="1325880"/>
            <a:ext cx="598932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7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0" y="1417320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600" b="1">
                <a:solidFill>
                  <a:srgbClr val="F58220"/>
                </a:solidFill>
                <a:latin typeface="Microsoft YaHei"/>
              </a:rPr>
              <a:t>【实测】aggregate 空间与容量池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1874519"/>
            <a:ext cx="5532120" cy="4160520"/>
          </a:xfrm>
          <a:prstGeom prst="roundRect">
            <a:avLst/>
          </a:prstGeom>
          <a:solidFill>
            <a:srgbClr val="10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08192" y="1965959"/>
            <a:ext cx="5202936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 b="0">
                <a:solidFill>
                  <a:srgbClr val="B8E0C8"/>
                </a:solidFill>
                <a:latin typeface="Consolas"/>
              </a:rPr>
              <a:t># storage aggregate show-space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B8E0C8"/>
                </a:solidFill>
                <a:latin typeface="Consolas"/>
              </a:rPr>
              <a:t>Aggregate : aggr1   (Performance Tier)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B8E0C8"/>
                </a:solidFill>
                <a:latin typeface="Consolas"/>
              </a:rPr>
              <a:t>  Total Used            77.45GB    9%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B8E0C8"/>
                </a:solidFill>
                <a:latin typeface="Consolas"/>
              </a:rPr>
              <a:t>  Snapshot Reserve      45.36GB    5%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B8E0C8"/>
                </a:solidFill>
                <a:latin typeface="Consolas"/>
              </a:rPr>
              <a:t>  Total Physical Used   20.05GB    2%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B8E0C8"/>
                </a:solidFill>
                <a:latin typeface="Consolas"/>
              </a:rPr>
              <a:t>  Total Provisioned    1.44TB   163%  &lt;- 超额配置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B8E0C8"/>
                </a:solidFill>
                <a:latin typeface="Consolas"/>
              </a:rPr>
              <a:t/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B8E0C8"/>
                </a:solidFill>
                <a:latin typeface="Consolas"/>
              </a:rPr>
              <a:t>Object Store : FSxFabricpoolObjectStore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B8E0C8"/>
                </a:solidFill>
                <a:latin typeface="Consolas"/>
              </a:rPr>
              <a:t>  Logical Used          12.20GB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B8E0C8"/>
                </a:solidFill>
                <a:latin typeface="Consolas"/>
              </a:rPr>
              <a:t>  Space Saved by SE       4.55MB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B8E0C8"/>
                </a:solidFill>
                <a:latin typeface="Consolas"/>
              </a:rPr>
              <a:t>  Total Physical Used   12.20GB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B8E0C8"/>
                </a:solidFill>
                <a:latin typeface="Consolas"/>
              </a:rPr>
              <a:t/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B8E0C8"/>
                </a:solidFill>
                <a:latin typeface="Consolas"/>
              </a:rPr>
              <a:t>结论：聚合已挂接容量池(对象存储)，且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B8E0C8"/>
                </a:solidFill>
                <a:latin typeface="Consolas"/>
              </a:rPr>
              <a:t>Provisioned 163% &gt; 100% 证明精简超配。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19088"/>
            <a:ext cx="112471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50" b="0">
                <a:solidFill>
                  <a:srgbClr val="5A6B82"/>
                </a:solidFill>
                <a:latin typeface="Microsoft YaHei"/>
              </a:rPr>
              <a:t>实测：FsxId011719cc94111ed47 / aggr1，命令 storage aggregate show-space。| 文档：AWS《Managing storage capacity》《FSx for ONTAP storage tiers》。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6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51560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Microsoft YaHei"/>
              </a:rPr>
              <a:t>二、ONTAP 存储管理（2）：数据分层策略 Tiering Policy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78992"/>
            <a:ext cx="11155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5A6B82"/>
                </a:solidFill>
                <a:latin typeface="Microsoft YaHei"/>
              </a:rPr>
              <a:t>卷级策略决定哪些数据下沉到容量池；冷却期 cooling period 控制下沉时机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2011680" cy="658368"/>
          </a:xfrm>
          <a:prstGeom prst="rect">
            <a:avLst/>
          </a:prstGeom>
          <a:solidFill>
            <a:srgbClr val="0067C5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371600"/>
            <a:ext cx="182880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Microsoft YaHei"/>
              </a:rPr>
              <a:t>策略</a:t>
            </a:r>
          </a:p>
        </p:txBody>
      </p:sp>
      <p:sp>
        <p:nvSpPr>
          <p:cNvPr id="9" name="Rectangle 8"/>
          <p:cNvSpPr/>
          <p:nvPr/>
        </p:nvSpPr>
        <p:spPr>
          <a:xfrm>
            <a:off x="2514600" y="1371600"/>
            <a:ext cx="2743200" cy="658368"/>
          </a:xfrm>
          <a:prstGeom prst="rect">
            <a:avLst/>
          </a:prstGeom>
          <a:solidFill>
            <a:srgbClr val="0067C5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06040" y="1371600"/>
            <a:ext cx="256032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Microsoft YaHei"/>
              </a:rPr>
              <a:t>分层内容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57800" y="1371600"/>
            <a:ext cx="2103120" cy="658368"/>
          </a:xfrm>
          <a:prstGeom prst="rect">
            <a:avLst/>
          </a:prstGeom>
          <a:solidFill>
            <a:srgbClr val="0067C5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49240" y="1371600"/>
            <a:ext cx="192024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Microsoft YaHei"/>
              </a:rPr>
              <a:t>默认冷却期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60920" y="1371600"/>
            <a:ext cx="4206240" cy="658368"/>
          </a:xfrm>
          <a:prstGeom prst="rect">
            <a:avLst/>
          </a:prstGeom>
          <a:solidFill>
            <a:srgbClr val="0067C5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52360" y="1371600"/>
            <a:ext cx="402336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Microsoft YaHei"/>
              </a:rPr>
              <a:t>读回行为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029968"/>
            <a:ext cx="2011680" cy="658368"/>
          </a:xfrm>
          <a:prstGeom prst="rect">
            <a:avLst/>
          </a:prstGeom>
          <a:solidFill>
            <a:srgbClr val="F2F6FB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2029968"/>
            <a:ext cx="182880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50" b="1">
                <a:solidFill>
                  <a:srgbClr val="0067C5"/>
                </a:solidFill>
                <a:latin typeface="Microsoft YaHei"/>
              </a:rPr>
              <a:t>Auto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14600" y="2029968"/>
            <a:ext cx="2743200" cy="658368"/>
          </a:xfrm>
          <a:prstGeom prst="rect">
            <a:avLst/>
          </a:prstGeom>
          <a:solidFill>
            <a:srgbClr val="F2F6FB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06040" y="2029968"/>
            <a:ext cx="256032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50" b="0">
                <a:solidFill>
                  <a:srgbClr val="1A2B4A"/>
                </a:solidFill>
                <a:latin typeface="Microsoft YaHei"/>
              </a:rPr>
              <a:t>冷的用户数据 + 快照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257800" y="2029968"/>
            <a:ext cx="2103120" cy="658368"/>
          </a:xfrm>
          <a:prstGeom prst="rect">
            <a:avLst/>
          </a:prstGeom>
          <a:solidFill>
            <a:srgbClr val="F2F6FB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49240" y="2029968"/>
            <a:ext cx="192024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150" b="0">
                <a:solidFill>
                  <a:srgbClr val="1A2B4A"/>
                </a:solidFill>
                <a:latin typeface="Microsoft YaHei"/>
              </a:rPr>
              <a:t>31 天 (2–183)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60920" y="2029968"/>
            <a:ext cx="4206240" cy="658368"/>
          </a:xfrm>
          <a:prstGeom prst="rect">
            <a:avLst/>
          </a:prstGeom>
          <a:solidFill>
            <a:srgbClr val="F2F6FB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52360" y="2029968"/>
            <a:ext cx="402336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150" b="0">
                <a:solidFill>
                  <a:srgbClr val="1A2B4A"/>
                </a:solidFill>
                <a:latin typeface="Microsoft YaHei"/>
              </a:rPr>
              <a:t>随机读→变热回SSD；顺序读保持冷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2688336"/>
            <a:ext cx="201168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2688336"/>
            <a:ext cx="182880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50" b="1">
                <a:solidFill>
                  <a:srgbClr val="0067C5"/>
                </a:solidFill>
                <a:latin typeface="Microsoft YaHei"/>
              </a:rPr>
              <a:t>Snapshot Only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14600" y="2688336"/>
            <a:ext cx="27432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06040" y="2688336"/>
            <a:ext cx="256032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50" b="0">
                <a:solidFill>
                  <a:srgbClr val="1A2B4A"/>
                </a:solidFill>
                <a:latin typeface="Microsoft YaHei"/>
              </a:rPr>
              <a:t>仅快照数据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257800" y="2688336"/>
            <a:ext cx="21031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49240" y="2688336"/>
            <a:ext cx="192024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150" b="0">
                <a:solidFill>
                  <a:srgbClr val="1A2B4A"/>
                </a:solidFill>
                <a:latin typeface="Microsoft YaHei"/>
              </a:rPr>
              <a:t>2 天 (2–183)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60920" y="2688336"/>
            <a:ext cx="420624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52360" y="2688336"/>
            <a:ext cx="402336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150" b="0">
                <a:solidFill>
                  <a:srgbClr val="1A2B4A"/>
                </a:solidFill>
                <a:latin typeface="Microsoft YaHei"/>
              </a:rPr>
              <a:t>读冷快照→变热回 SSD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3346704"/>
            <a:ext cx="2011680" cy="658368"/>
          </a:xfrm>
          <a:prstGeom prst="rect">
            <a:avLst/>
          </a:prstGeom>
          <a:solidFill>
            <a:srgbClr val="F2F6FB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3346704"/>
            <a:ext cx="182880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50" b="1">
                <a:solidFill>
                  <a:srgbClr val="0067C5"/>
                </a:solidFill>
                <a:latin typeface="Microsoft YaHei"/>
              </a:rPr>
              <a:t>All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514600" y="3346704"/>
            <a:ext cx="2743200" cy="658368"/>
          </a:xfrm>
          <a:prstGeom prst="rect">
            <a:avLst/>
          </a:prstGeom>
          <a:solidFill>
            <a:srgbClr val="F2F6FB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606040" y="3346704"/>
            <a:ext cx="256032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50" b="0">
                <a:solidFill>
                  <a:srgbClr val="1A2B4A"/>
                </a:solidFill>
                <a:latin typeface="Microsoft YaHei"/>
              </a:rPr>
              <a:t>全部用户数据 + 快照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257800" y="3346704"/>
            <a:ext cx="2103120" cy="658368"/>
          </a:xfrm>
          <a:prstGeom prst="rect">
            <a:avLst/>
          </a:prstGeom>
          <a:solidFill>
            <a:srgbClr val="F2F6FB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349240" y="3346704"/>
            <a:ext cx="192024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150" b="0">
                <a:solidFill>
                  <a:srgbClr val="1A2B4A"/>
                </a:solidFill>
                <a:latin typeface="Microsoft YaHei"/>
              </a:rPr>
              <a:t>—（立即标冷）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60920" y="3346704"/>
            <a:ext cx="4206240" cy="658368"/>
          </a:xfrm>
          <a:prstGeom prst="rect">
            <a:avLst/>
          </a:prstGeom>
          <a:solidFill>
            <a:srgbClr val="F2F6FB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52360" y="3346704"/>
            <a:ext cx="402336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150" b="0">
                <a:solidFill>
                  <a:srgbClr val="1A2B4A"/>
                </a:solidFill>
                <a:latin typeface="Microsoft YaHei"/>
              </a:rPr>
              <a:t>读取后仍保持冷，不回 SSD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4005072"/>
            <a:ext cx="201168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4360" y="4005072"/>
            <a:ext cx="182880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50" b="1">
                <a:solidFill>
                  <a:srgbClr val="0067C5"/>
                </a:solidFill>
                <a:latin typeface="Microsoft YaHei"/>
              </a:rPr>
              <a:t>None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514600" y="4005072"/>
            <a:ext cx="27432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606040" y="4005072"/>
            <a:ext cx="256032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50" b="0">
                <a:solidFill>
                  <a:srgbClr val="1A2B4A"/>
                </a:solidFill>
                <a:latin typeface="Microsoft YaHei"/>
              </a:rPr>
              <a:t>不分层，全留 SSD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257800" y="4005072"/>
            <a:ext cx="21031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349240" y="4005072"/>
            <a:ext cx="192024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150" b="0">
                <a:solidFill>
                  <a:srgbClr val="1A2B4A"/>
                </a:solidFill>
                <a:latin typeface="Microsoft YaHei"/>
              </a:rPr>
              <a:t>—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60920" y="4005072"/>
            <a:ext cx="420624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52360" y="4005072"/>
            <a:ext cx="402336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150" b="0">
                <a:solidFill>
                  <a:srgbClr val="1A2B4A"/>
                </a:solidFill>
                <a:latin typeface="Microsoft YaHei"/>
              </a:rPr>
              <a:t>已在容量池的数据后台迁回 SSD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02920" y="4160520"/>
            <a:ext cx="5532120" cy="187451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8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640080" y="4270248"/>
            <a:ext cx="5257800" cy="1645920"/>
          </a:xfrm>
          <a:prstGeom prst="roundRect">
            <a:avLst/>
          </a:prstGeom>
          <a:solidFill>
            <a:srgbClr val="10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04672" y="4361688"/>
            <a:ext cx="4928616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58220"/>
                </a:solidFill>
                <a:latin typeface="Consolas"/>
              </a:rPr>
              <a:t>【实测】4 种策略本集群均在用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B8E0C8"/>
                </a:solidFill>
                <a:latin typeface="Consolas"/>
              </a:rPr>
              <a:t># volume show -fields tiering-policy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B8E0C8"/>
                </a:solidFill>
                <a:latin typeface="Consolas"/>
              </a:rPr>
              <a:t>beijing       auto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B8E0C8"/>
                </a:solidFill>
                <a:latin typeface="Consolas"/>
              </a:rPr>
              <a:t>performance   all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B8E0C8"/>
                </a:solidFill>
                <a:latin typeface="Consolas"/>
              </a:rPr>
              <a:t>reverse_dest  snapshot-only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B8E0C8"/>
                </a:solidFill>
                <a:latin typeface="Consolas"/>
              </a:rPr>
              <a:t>source        auto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B8E0C8"/>
                </a:solidFill>
                <a:latin typeface="Consolas"/>
              </a:rPr>
              <a:t>thick_vol     snapshot-only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217920" y="4160520"/>
            <a:ext cx="5486400" cy="1874519"/>
          </a:xfrm>
          <a:prstGeom prst="round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00800" y="4270248"/>
            <a:ext cx="5120640" cy="1691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0067C5"/>
                </a:solidFill>
                <a:latin typeface="Microsoft YaHei"/>
              </a:rPr>
              <a:t>要点说明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1A2B4A"/>
                </a:solidFill>
                <a:latin typeface="Microsoft YaHei"/>
              </a:rPr>
              <a:t>• 控制台默认 Auto；CLI/API 默认 Snapshot Only</a:t>
            </a:r>
          </a:p>
          <a:p>
            <a:pPr algn="l">
              <a:spcBef>
                <a:spcPts val="400"/>
              </a:spcBef>
            </a:pPr>
            <a:r>
              <a:rPr sz="1200" b="1">
                <a:solidFill>
                  <a:srgbClr val="F58220"/>
                </a:solidFill>
                <a:latin typeface="Microsoft YaHei"/>
              </a:rPr>
              <a:t>• 元数据永远留 SSD，不下沉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1A2B4A"/>
                </a:solidFill>
                <a:latin typeface="Microsoft YaHei"/>
              </a:rPr>
              <a:t>• 冷却期可设 2–183 天，影响下沉速度</a:t>
            </a:r>
          </a:p>
          <a:p>
            <a:pPr algn="l">
              <a:spcBef>
                <a:spcPts val="400"/>
              </a:spcBef>
            </a:pPr>
            <a:r>
              <a:rPr sz="1200" b="1">
                <a:solidFill>
                  <a:srgbClr val="2E9E5B"/>
                </a:solidFill>
                <a:latin typeface="Microsoft YaHei"/>
              </a:rPr>
              <a:t>• 长期归档建议用 Auto（先 SSD 去重再下沉）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2920" y="6419088"/>
            <a:ext cx="112471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50" b="0">
                <a:solidFill>
                  <a:srgbClr val="5A6B82"/>
                </a:solidFill>
                <a:latin typeface="Microsoft YaHei"/>
              </a:rPr>
              <a:t>实测：volume show -fields tiering-policy。| 文档：AWS《Volume data tiering》（Auto 默认 31 天、Snapshot Only 默认 2 天、范围 2–183 天）。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6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51560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Microsoft YaHei"/>
              </a:rPr>
              <a:t>二、ONTAP 存储管理（3）：File System / SVM / Volume 层级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78992"/>
            <a:ext cx="11155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5A6B82"/>
                </a:solidFill>
                <a:latin typeface="Microsoft YaHei"/>
              </a:rPr>
              <a:t>FSx 文件系统 → SVM（Vserver 存储虚拟机）→ Volume（卷）三层逻辑结构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554480"/>
            <a:ext cx="5486400" cy="1051560"/>
          </a:xfrm>
          <a:prstGeom prst="roundRect">
            <a:avLst/>
          </a:prstGeom>
          <a:solidFill>
            <a:srgbClr val="006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5029200" cy="10515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Microsoft YaHei"/>
              </a:rPr>
              <a:t>FSx 文件系统 (Cluster)</a:t>
            </a:r>
          </a:p>
          <a:p>
            <a:pPr algn="l">
              <a:spcBef>
                <a:spcPts val="300"/>
              </a:spcBef>
            </a:pPr>
            <a:r>
              <a:rPr sz="1150" b="0">
                <a:solidFill>
                  <a:srgbClr val="EAF2FB"/>
                </a:solidFill>
                <a:latin typeface="Microsoft YaHei"/>
              </a:rPr>
              <a:t>物理资源：SSD 容量 + IOPS + 吞吐 + 容量池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1800" y="2606040"/>
            <a:ext cx="54864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600" b="1">
                <a:solidFill>
                  <a:srgbClr val="5A6B82"/>
                </a:solidFill>
                <a:latin typeface="Microsoft YaHei"/>
              </a:rPr>
              <a:t>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926080"/>
            <a:ext cx="5486400" cy="1051560"/>
          </a:xfrm>
          <a:prstGeom prst="round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926080"/>
            <a:ext cx="5029200" cy="10515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Microsoft YaHei"/>
              </a:rPr>
              <a:t>SVM / Vserver（存储虚拟机）</a:t>
            </a:r>
          </a:p>
          <a:p>
            <a:pPr algn="l">
              <a:spcBef>
                <a:spcPts val="300"/>
              </a:spcBef>
            </a:pPr>
            <a:r>
              <a:rPr sz="1150" b="0">
                <a:solidFill>
                  <a:srgbClr val="EAF2FB"/>
                </a:solidFill>
                <a:latin typeface="Microsoft YaHei"/>
              </a:rPr>
              <a:t>对外提供 NFS/SMB/iSCSI 访问的逻辑服务器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1800" y="3977640"/>
            <a:ext cx="54864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600" b="1">
                <a:solidFill>
                  <a:srgbClr val="5A6B82"/>
                </a:solidFill>
                <a:latin typeface="Microsoft YaHei"/>
              </a:rPr>
              <a:t>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4297680"/>
            <a:ext cx="5486400" cy="1051560"/>
          </a:xfrm>
          <a:prstGeom prst="round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297680"/>
            <a:ext cx="5029200" cy="10515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Microsoft YaHei"/>
              </a:rPr>
              <a:t>Volume（FlexVol 卷）</a:t>
            </a:r>
          </a:p>
          <a:p>
            <a:pPr algn="l">
              <a:spcBef>
                <a:spcPts val="300"/>
              </a:spcBef>
            </a:pPr>
            <a:r>
              <a:rPr sz="1150" b="0">
                <a:solidFill>
                  <a:srgbClr val="EAF2FB"/>
                </a:solidFill>
                <a:latin typeface="Microsoft YaHei"/>
              </a:rPr>
              <a:t>承载文件/LUN 的逻辑容器，挂在 aggregate 上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325880"/>
            <a:ext cx="539496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7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1417320"/>
            <a:ext cx="49377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600" b="1">
                <a:solidFill>
                  <a:srgbClr val="F58220"/>
                </a:solidFill>
                <a:latin typeface="Microsoft YaHei"/>
              </a:rPr>
              <a:t>【实测】SVM 与卷列表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37960" y="1874519"/>
            <a:ext cx="4937760" cy="4160520"/>
          </a:xfrm>
          <a:prstGeom prst="roundRect">
            <a:avLst/>
          </a:prstGeom>
          <a:solidFill>
            <a:srgbClr val="10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02552" y="1965959"/>
            <a:ext cx="4608576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050" b="0">
                <a:solidFill>
                  <a:srgbClr val="B8E0C8"/>
                </a:solidFill>
                <a:latin typeface="Consolas"/>
              </a:rPr>
              <a:t># vserver show</a:t>
            </a:r>
          </a:p>
          <a:p>
            <a:pPr>
              <a:spcBef>
                <a:spcPts val="200"/>
              </a:spcBef>
            </a:pPr>
            <a:r>
              <a:rPr sz="1050" b="0">
                <a:solidFill>
                  <a:srgbClr val="B8E0C8"/>
                </a:solidFill>
                <a:latin typeface="Consolas"/>
              </a:rPr>
              <a:t>Vserver     Type  State    Root Volume</a:t>
            </a:r>
          </a:p>
          <a:p>
            <a:pPr>
              <a:spcBef>
                <a:spcPts val="200"/>
              </a:spcBef>
            </a:pPr>
            <a:r>
              <a:rPr sz="1050" b="0">
                <a:solidFill>
                  <a:srgbClr val="B8E0C8"/>
                </a:solidFill>
                <a:latin typeface="Consolas"/>
              </a:rPr>
              <a:t>source-svm  data  running  source_svm_root</a:t>
            </a:r>
          </a:p>
          <a:p>
            <a:pPr>
              <a:spcBef>
                <a:spcPts val="200"/>
              </a:spcBef>
            </a:pPr>
            <a:r>
              <a:rPr sz="1050" b="0">
                <a:solidFill>
                  <a:srgbClr val="B8E0C8"/>
                </a:solidFill>
                <a:latin typeface="Consolas"/>
              </a:rPr>
              <a:t/>
            </a:r>
          </a:p>
          <a:p>
            <a:pPr>
              <a:spcBef>
                <a:spcPts val="200"/>
              </a:spcBef>
            </a:pPr>
            <a:r>
              <a:rPr sz="1050" b="0">
                <a:solidFill>
                  <a:srgbClr val="B8E0C8"/>
                </a:solidFill>
                <a:latin typeface="Consolas"/>
              </a:rPr>
              <a:t># volume show -vserver source-svm</a:t>
            </a:r>
          </a:p>
          <a:p>
            <a:pPr>
              <a:spcBef>
                <a:spcPts val="200"/>
              </a:spcBef>
            </a:pPr>
            <a:r>
              <a:rPr sz="1050" b="0">
                <a:solidFill>
                  <a:srgbClr val="B8E0C8"/>
                </a:solidFill>
                <a:latin typeface="Consolas"/>
              </a:rPr>
              <a:t>Volume        Aggr   State  Type  Size</a:t>
            </a:r>
          </a:p>
          <a:p>
            <a:pPr>
              <a:spcBef>
                <a:spcPts val="200"/>
              </a:spcBef>
            </a:pPr>
            <a:r>
              <a:rPr sz="1050" b="0">
                <a:solidFill>
                  <a:srgbClr val="B8E0C8"/>
                </a:solidFill>
                <a:latin typeface="Consolas"/>
              </a:rPr>
              <a:t>beijing       aggr1  online RW    100GB</a:t>
            </a:r>
          </a:p>
          <a:p>
            <a:pPr>
              <a:spcBef>
                <a:spcPts val="200"/>
              </a:spcBef>
            </a:pPr>
            <a:r>
              <a:rPr sz="1050" b="0">
                <a:solidFill>
                  <a:srgbClr val="B8E0C8"/>
                </a:solidFill>
                <a:latin typeface="Consolas"/>
              </a:rPr>
              <a:t>performance   aggr1  online RW    1TB</a:t>
            </a:r>
          </a:p>
          <a:p>
            <a:pPr>
              <a:spcBef>
                <a:spcPts val="200"/>
              </a:spcBef>
            </a:pPr>
            <a:r>
              <a:rPr sz="1050" b="0">
                <a:solidFill>
                  <a:srgbClr val="B8E0C8"/>
                </a:solidFill>
                <a:latin typeface="Consolas"/>
              </a:rPr>
              <a:t>reverse_dest  aggr1  online DP    100GB</a:t>
            </a:r>
          </a:p>
          <a:p>
            <a:pPr>
              <a:spcBef>
                <a:spcPts val="200"/>
              </a:spcBef>
            </a:pPr>
            <a:r>
              <a:rPr sz="1050" b="0">
                <a:solidFill>
                  <a:srgbClr val="B8E0C8"/>
                </a:solidFill>
                <a:latin typeface="Consolas"/>
              </a:rPr>
              <a:t>source        aggr1  online RW    100GB</a:t>
            </a:r>
          </a:p>
          <a:p>
            <a:pPr>
              <a:spcBef>
                <a:spcPts val="200"/>
              </a:spcBef>
            </a:pPr>
            <a:r>
              <a:rPr sz="1050" b="0">
                <a:solidFill>
                  <a:srgbClr val="B8E0C8"/>
                </a:solidFill>
                <a:latin typeface="Consolas"/>
              </a:rPr>
              <a:t>source_svm_root aggr1 online RW   1GB</a:t>
            </a:r>
          </a:p>
          <a:p>
            <a:pPr>
              <a:spcBef>
                <a:spcPts val="200"/>
              </a:spcBef>
            </a:pPr>
            <a:r>
              <a:rPr sz="1050" b="0">
                <a:solidFill>
                  <a:srgbClr val="B8E0C8"/>
                </a:solidFill>
                <a:latin typeface="Consolas"/>
              </a:rPr>
              <a:t>thick_vol     aggr1  online RW    10GB</a:t>
            </a:r>
          </a:p>
          <a:p>
            <a:pPr>
              <a:spcBef>
                <a:spcPts val="200"/>
              </a:spcBef>
            </a:pPr>
            <a:r>
              <a:rPr sz="1050" b="0">
                <a:solidFill>
                  <a:srgbClr val="B8E0C8"/>
                </a:solidFill>
                <a:latin typeface="Consolas"/>
              </a:rPr>
              <a:t>(RW=读写卷  DP=数据保护/复制目标卷)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19088"/>
            <a:ext cx="112471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50" b="0">
                <a:solidFill>
                  <a:srgbClr val="5A6B82"/>
                </a:solidFill>
                <a:latin typeface="Microsoft YaHei"/>
              </a:rPr>
              <a:t>实测：vserver show / volume show -vserver source-svm。| 文档：AWS《FSx for ONTAP》SVM 与卷概念。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6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51560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Microsoft YaHei"/>
              </a:rPr>
              <a:t>二、ONTAP 存储管理（4）：存储效率 去重/压缩/压实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78992"/>
            <a:ext cx="11155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5A6B82"/>
                </a:solidFill>
                <a:latin typeface="Microsoft YaHei"/>
              </a:rPr>
              <a:t>ONTAP 在 4KB 块级别做去重+压缩+压实；inline（写入时）+ background（后台扫描）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25880"/>
            <a:ext cx="4937760" cy="4937760"/>
          </a:xfrm>
          <a:prstGeom prst="round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45720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600" b="1">
                <a:solidFill>
                  <a:srgbClr val="0067C5"/>
                </a:solidFill>
                <a:latin typeface="Microsoft YaHei"/>
              </a:rPr>
              <a:t>三种数据缩减技术（官方）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74519"/>
            <a:ext cx="4572000" cy="42976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2E9E5B"/>
                </a:solidFill>
                <a:latin typeface="Microsoft YaHei"/>
              </a:rPr>
              <a:t>• 去重 Deduplication</a:t>
            </a:r>
          </a:p>
          <a:p>
            <a:pPr algn="l">
              <a:spcBef>
                <a:spcPts val="100"/>
              </a:spcBef>
            </a:pPr>
            <a:r>
              <a:rPr sz="1150" b="0">
                <a:solidFill>
                  <a:srgbClr val="5A6B82"/>
                </a:solidFill>
                <a:latin typeface="Microsoft YaHei"/>
              </a:rPr>
              <a:t>   重复 4KB 块替换为指向唯一块的引用</a:t>
            </a:r>
          </a:p>
          <a:p>
            <a:pPr algn="l">
              <a:spcBef>
                <a:spcPts val="600"/>
              </a:spcBef>
            </a:pPr>
            <a:r>
              <a:rPr sz="1300" b="1">
                <a:solidFill>
                  <a:srgbClr val="2E9E5B"/>
                </a:solidFill>
                <a:latin typeface="Microsoft YaHei"/>
              </a:rPr>
              <a:t>• 压缩 Compression</a:t>
            </a:r>
          </a:p>
          <a:p>
            <a:pPr algn="l">
              <a:spcBef>
                <a:spcPts val="100"/>
              </a:spcBef>
            </a:pPr>
            <a:r>
              <a:rPr sz="1150" b="0">
                <a:solidFill>
                  <a:srgbClr val="5A6B82"/>
                </a:solidFill>
                <a:latin typeface="Microsoft YaHei"/>
              </a:rPr>
              <a:t>   默认 8KB 压缩组 inline 压缩</a:t>
            </a:r>
          </a:p>
          <a:p>
            <a:pPr algn="l">
              <a:spcBef>
                <a:spcPts val="600"/>
              </a:spcBef>
            </a:pPr>
            <a:r>
              <a:rPr sz="1300" b="1">
                <a:solidFill>
                  <a:srgbClr val="2E9E5B"/>
                </a:solidFill>
                <a:latin typeface="Microsoft YaHei"/>
              </a:rPr>
              <a:t>• 压实 Compaction</a:t>
            </a:r>
          </a:p>
          <a:p>
            <a:pPr algn="l">
              <a:spcBef>
                <a:spcPts val="100"/>
              </a:spcBef>
            </a:pPr>
            <a:r>
              <a:rPr sz="1150" b="0">
                <a:solidFill>
                  <a:srgbClr val="5A6B82"/>
                </a:solidFill>
                <a:latin typeface="Microsoft YaHei"/>
              </a:rPr>
              <a:t>   多个小 I/O 合并进同一物理块</a:t>
            </a:r>
          </a:p>
          <a:p>
            <a:pPr algn="l">
              <a:spcBef>
                <a:spcPts val="600"/>
              </a:spcBef>
            </a:pPr>
            <a:r>
              <a:rPr sz="1250" b="1">
                <a:solidFill>
                  <a:srgbClr val="1A2B4A"/>
                </a:solidFill>
                <a:latin typeface="Microsoft YaHei"/>
              </a:rPr>
              <a:t>两种应用方式：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1A2B4A"/>
                </a:solidFill>
                <a:latin typeface="Microsoft YaHei"/>
              </a:rPr>
              <a:t>  - inline：写盘前在内存做，立即省空间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1A2B4A"/>
                </a:solidFill>
                <a:latin typeface="Microsoft YaHei"/>
              </a:rPr>
              <a:t>  - background：写盘后周期性效率任务</a:t>
            </a:r>
          </a:p>
          <a:p>
            <a:pPr algn="l">
              <a:spcBef>
                <a:spcPts val="600"/>
              </a:spcBef>
            </a:pPr>
            <a:r>
              <a:rPr sz="1250" b="1">
                <a:solidFill>
                  <a:srgbClr val="F58220"/>
                </a:solidFill>
                <a:latin typeface="Microsoft YaHei"/>
              </a:rPr>
              <a:t>注意：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5A6B82"/>
                </a:solidFill>
                <a:latin typeface="Microsoft YaHei"/>
              </a:rPr>
              <a:t>  · 数据下沉到容量池后不再跑后台效率，</a:t>
            </a:r>
          </a:p>
          <a:p>
            <a:pPr algn="l">
              <a:spcBef>
                <a:spcPts val="100"/>
              </a:spcBef>
            </a:pPr>
            <a:r>
              <a:rPr sz="1150" b="0">
                <a:solidFill>
                  <a:srgbClr val="5A6B82"/>
                </a:solidFill>
                <a:latin typeface="Microsoft YaHei"/>
              </a:rPr>
              <a:t>    但 SSD 上已获得的节省会被保留</a:t>
            </a:r>
          </a:p>
          <a:p>
            <a:pPr algn="l">
              <a:spcBef>
                <a:spcPts val="400"/>
              </a:spcBef>
            </a:pPr>
            <a:r>
              <a:rPr sz="1150" b="0">
                <a:solidFill>
                  <a:srgbClr val="5A6B82"/>
                </a:solidFill>
                <a:latin typeface="Microsoft YaHei"/>
              </a:rPr>
              <a:t>  · 实测本卷为纯去重场景，压缩贡献为 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23560" y="1325880"/>
            <a:ext cx="608076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8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0" y="1417320"/>
            <a:ext cx="55778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F58220"/>
                </a:solidFill>
                <a:latin typeface="Microsoft YaHei"/>
              </a:rPr>
              <a:t>【实测】写 3.46GB 可去重数据，省 99%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52160" y="1874519"/>
            <a:ext cx="5623560" cy="2697480"/>
          </a:xfrm>
          <a:prstGeom prst="roundRect">
            <a:avLst/>
          </a:prstGeom>
          <a:solidFill>
            <a:srgbClr val="10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16752" y="1965959"/>
            <a:ext cx="5294376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050" b="0">
                <a:solidFill>
                  <a:srgbClr val="B8E0C8"/>
                </a:solidFill>
                <a:latin typeface="Consolas"/>
              </a:rPr>
              <a:t># 步骤：建卷 ppttest(5GB,thin,auto) -&gt; NFS挂载</a:t>
            </a:r>
          </a:p>
          <a:p>
            <a:pPr>
              <a:spcBef>
                <a:spcPts val="200"/>
              </a:spcBef>
            </a:pPr>
            <a:r>
              <a:rPr sz="1050" b="0">
                <a:solidFill>
                  <a:srgbClr val="B8E0C8"/>
                </a:solidFill>
                <a:latin typeface="Consolas"/>
              </a:rPr>
              <a:t># 写 1GB 全零 + 5x500MB 同内容文件 -&gt; efficiency 扫描</a:t>
            </a:r>
          </a:p>
          <a:p>
            <a:pPr>
              <a:spcBef>
                <a:spcPts val="200"/>
              </a:spcBef>
            </a:pPr>
            <a:r>
              <a:rPr sz="1050" b="0">
                <a:solidFill>
                  <a:srgbClr val="B8E0C8"/>
                </a:solidFill>
                <a:latin typeface="Consolas"/>
              </a:rPr>
              <a:t/>
            </a:r>
          </a:p>
          <a:p>
            <a:pPr>
              <a:spcBef>
                <a:spcPts val="200"/>
              </a:spcBef>
            </a:pPr>
            <a:r>
              <a:rPr sz="1050" b="0">
                <a:solidFill>
                  <a:srgbClr val="B8E0C8"/>
                </a:solidFill>
                <a:latin typeface="Consolas"/>
              </a:rPr>
              <a:t># volume show -volume ppttest -fields ...</a:t>
            </a:r>
          </a:p>
          <a:p>
            <a:pPr>
              <a:spcBef>
                <a:spcPts val="200"/>
              </a:spcBef>
            </a:pPr>
            <a:r>
              <a:rPr sz="1050" b="0">
                <a:solidFill>
                  <a:srgbClr val="B8E0C8"/>
                </a:solidFill>
                <a:latin typeface="Consolas"/>
              </a:rPr>
              <a:t>logical-used              3.46GB</a:t>
            </a:r>
          </a:p>
          <a:p>
            <a:pPr>
              <a:spcBef>
                <a:spcPts val="200"/>
              </a:spcBef>
            </a:pPr>
            <a:r>
              <a:rPr sz="1050" b="0">
                <a:solidFill>
                  <a:srgbClr val="B8E0C8"/>
                </a:solidFill>
                <a:latin typeface="Consolas"/>
              </a:rPr>
              <a:t>sis-space-saved           3.42GB</a:t>
            </a:r>
          </a:p>
          <a:p>
            <a:pPr>
              <a:spcBef>
                <a:spcPts val="200"/>
              </a:spcBef>
            </a:pPr>
            <a:r>
              <a:rPr sz="1050" b="0">
                <a:solidFill>
                  <a:srgbClr val="B8E0C8"/>
                </a:solidFill>
                <a:latin typeface="Consolas"/>
              </a:rPr>
              <a:t>sis-space-saved-percent     99%   &lt;===</a:t>
            </a:r>
          </a:p>
          <a:p>
            <a:pPr>
              <a:spcBef>
                <a:spcPts val="200"/>
              </a:spcBef>
            </a:pPr>
            <a:r>
              <a:rPr sz="1050" b="0">
                <a:solidFill>
                  <a:srgbClr val="B8E0C8"/>
                </a:solidFill>
                <a:latin typeface="Consolas"/>
              </a:rPr>
              <a:t>dedupe-space-saved        3.42GB</a:t>
            </a:r>
          </a:p>
          <a:p>
            <a:pPr>
              <a:spcBef>
                <a:spcPts val="200"/>
              </a:spcBef>
            </a:pPr>
            <a:r>
              <a:rPr sz="1050" b="0">
                <a:solidFill>
                  <a:srgbClr val="B8E0C8"/>
                </a:solidFill>
                <a:latin typeface="Consolas"/>
              </a:rPr>
              <a:t>compression-space-saved      0B</a:t>
            </a:r>
          </a:p>
          <a:p>
            <a:pPr>
              <a:spcBef>
                <a:spcPts val="200"/>
              </a:spcBef>
            </a:pPr>
            <a:r>
              <a:rPr sz="1050" b="0">
                <a:solidFill>
                  <a:srgbClr val="B8E0C8"/>
                </a:solidFill>
                <a:latin typeface="Consolas"/>
              </a:rPr>
              <a:t>physical-used            96.90MB &lt;- 实际占盘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4709160"/>
            <a:ext cx="5623560" cy="1463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1A2B4A"/>
                </a:solidFill>
                <a:latin typeface="Microsoft YaHei"/>
              </a:rPr>
              <a:t>解读：逻辑写入 3.46GB，去重后实际只占 96.9MB，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1A2B4A"/>
                </a:solidFill>
                <a:latin typeface="Microsoft YaHei"/>
              </a:rPr>
              <a:t>节省 99%。5 份相同文件被去重为 1 份 + 引用；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5A6B82"/>
                </a:solidFill>
                <a:latin typeface="Microsoft YaHei"/>
              </a:rPr>
              <a:t>全零数据被压实/去重。本例压缩省 0 是因为测试</a:t>
            </a:r>
          </a:p>
          <a:p>
            <a:pPr algn="l">
              <a:spcBef>
                <a:spcPts val="100"/>
              </a:spcBef>
            </a:pPr>
            <a:r>
              <a:rPr sz="1200" b="0">
                <a:solidFill>
                  <a:srgbClr val="5A6B82"/>
                </a:solidFill>
                <a:latin typeface="Microsoft YaHei"/>
              </a:rPr>
              <a:t>数据是高重复内容，去重已吃掉绝大部分收益。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19088"/>
            <a:ext cx="112471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50" b="0">
                <a:solidFill>
                  <a:srgbClr val="5A6B82"/>
                </a:solidFill>
                <a:latin typeface="Microsoft YaHei"/>
              </a:rPr>
              <a:t>实测：卷 ppttest，volume efficiency start + volume show 字段。| 文档：AWS《Managing storage efficiencies》（4KB 块、inline+background、压缩组 8KB）。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6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51560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Microsoft YaHei"/>
              </a:rPr>
              <a:t>二、ONTAP 存储管理（5）：精简配置 Thin Provisioning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78992"/>
            <a:ext cx="11155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5A6B82"/>
                </a:solidFill>
                <a:latin typeface="Microsoft YaHei"/>
              </a:rPr>
              <a:t>FSx ONTAP 卷默认精简配置（space-guarantee=none），按需占用、可超额配置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25880"/>
            <a:ext cx="5120640" cy="4937760"/>
          </a:xfrm>
          <a:prstGeom prst="round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46634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600" b="1">
                <a:solidFill>
                  <a:srgbClr val="0067C5"/>
                </a:solidFill>
                <a:latin typeface="Microsoft YaHei"/>
              </a:rPr>
              <a:t>精简 vs 厚配置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74519"/>
            <a:ext cx="4663440" cy="42976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2E9E5B"/>
                </a:solidFill>
                <a:latin typeface="Microsoft YaHei"/>
              </a:rPr>
              <a:t>• Thin（space-guarantee=none）</a:t>
            </a:r>
          </a:p>
          <a:p>
            <a:pPr algn="l">
              <a:spcBef>
                <a:spcPts val="100"/>
              </a:spcBef>
            </a:pPr>
            <a:r>
              <a:rPr sz="1200" b="0">
                <a:solidFill>
                  <a:srgbClr val="5A6B82"/>
                </a:solidFill>
                <a:latin typeface="Microsoft YaHei"/>
              </a:rPr>
              <a:t>   创建时不预留空间，写多少占多少</a:t>
            </a:r>
          </a:p>
          <a:p>
            <a:pPr algn="l">
              <a:spcBef>
                <a:spcPts val="100"/>
              </a:spcBef>
            </a:pPr>
            <a:r>
              <a:rPr sz="1200" b="0">
                <a:solidFill>
                  <a:srgbClr val="5A6B82"/>
                </a:solidFill>
                <a:latin typeface="Microsoft YaHei"/>
              </a:rPr>
              <a:t>   多个卷可超额配置（overcommit）聚合</a:t>
            </a:r>
          </a:p>
          <a:p>
            <a:pPr algn="l">
              <a:spcBef>
                <a:spcPts val="600"/>
              </a:spcBef>
            </a:pPr>
            <a:r>
              <a:rPr sz="1300" b="1">
                <a:solidFill>
                  <a:srgbClr val="F58220"/>
                </a:solidFill>
                <a:latin typeface="Microsoft YaHei"/>
              </a:rPr>
              <a:t>• Thick（space-guarantee=volume）</a:t>
            </a:r>
          </a:p>
          <a:p>
            <a:pPr algn="l">
              <a:spcBef>
                <a:spcPts val="100"/>
              </a:spcBef>
            </a:pPr>
            <a:r>
              <a:rPr sz="1200" b="0">
                <a:solidFill>
                  <a:srgbClr val="5A6B82"/>
                </a:solidFill>
                <a:latin typeface="Microsoft YaHei"/>
              </a:rPr>
              <a:t>   创建即预留全部容量，杜绝写满风险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1A2B4A"/>
                </a:solidFill>
                <a:latin typeface="Microsoft YaHei"/>
              </a:rPr>
              <a:t>• AWS 官方：FSx ONTAP 卷为精简配置，</a:t>
            </a:r>
          </a:p>
          <a:p>
            <a:pPr algn="l">
              <a:spcBef>
                <a:spcPts val="100"/>
              </a:spcBef>
            </a:pPr>
            <a:r>
              <a:rPr sz="1200" b="0">
                <a:solidFill>
                  <a:srgbClr val="5A6B82"/>
                </a:solidFill>
                <a:latin typeface="Microsoft YaHei"/>
              </a:rPr>
              <a:t>   SSD/容量池按需动态分配，不提前预留</a:t>
            </a:r>
          </a:p>
          <a:p>
            <a:pPr algn="l">
              <a:spcBef>
                <a:spcPts val="800"/>
              </a:spcBef>
            </a:pPr>
            <a:r>
              <a:rPr sz="1300" b="1">
                <a:solidFill>
                  <a:srgbClr val="C0392B"/>
                </a:solidFill>
                <a:latin typeface="Microsoft YaHei"/>
              </a:rPr>
              <a:t>⚠ 重要限制（实测验证）：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1A2B4A"/>
                </a:solidFill>
                <a:latin typeface="Microsoft YaHei"/>
              </a:rPr>
              <a:t>   挂了对象存储(容量池)的聚合上，</a:t>
            </a:r>
          </a:p>
          <a:p>
            <a:pPr algn="l">
              <a:spcBef>
                <a:spcPts val="100"/>
              </a:spcBef>
            </a:pPr>
            <a:r>
              <a:rPr sz="1200" b="1">
                <a:solidFill>
                  <a:srgbClr val="C0392B"/>
                </a:solidFill>
                <a:latin typeface="Microsoft YaHei"/>
              </a:rPr>
              <a:t>   卷只能用 space-guarantee=none，</a:t>
            </a:r>
          </a:p>
          <a:p>
            <a:pPr algn="l">
              <a:spcBef>
                <a:spcPts val="100"/>
              </a:spcBef>
            </a:pPr>
            <a:r>
              <a:rPr sz="1200" b="0">
                <a:solidFill>
                  <a:srgbClr val="5A6B82"/>
                </a:solidFill>
                <a:latin typeface="Microsoft YaHei"/>
              </a:rPr>
              <a:t>   无法设 thick（FabricPool 聚合限制）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06440" y="1325880"/>
            <a:ext cx="58978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8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0" y="1417320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F58220"/>
                </a:solidFill>
                <a:latin typeface="Microsoft YaHei"/>
              </a:rPr>
              <a:t>【实测】超额配置 + thin 卷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1874519"/>
            <a:ext cx="5440680" cy="2286000"/>
          </a:xfrm>
          <a:prstGeom prst="roundRect">
            <a:avLst/>
          </a:prstGeom>
          <a:solidFill>
            <a:srgbClr val="10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9632" y="1965959"/>
            <a:ext cx="5111496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050" b="0">
                <a:solidFill>
                  <a:srgbClr val="B8E0C8"/>
                </a:solidFill>
                <a:latin typeface="Consolas"/>
              </a:rPr>
              <a:t># storage aggregate show-space</a:t>
            </a:r>
          </a:p>
          <a:p>
            <a:pPr>
              <a:spcBef>
                <a:spcPts val="200"/>
              </a:spcBef>
            </a:pPr>
            <a:r>
              <a:rPr sz="1050" b="0">
                <a:solidFill>
                  <a:srgbClr val="B8E0C8"/>
                </a:solidFill>
                <a:latin typeface="Consolas"/>
              </a:rPr>
              <a:t>  Total Provisioned   1.44TB   163%</a:t>
            </a:r>
          </a:p>
          <a:p>
            <a:pPr>
              <a:spcBef>
                <a:spcPts val="200"/>
              </a:spcBef>
            </a:pPr>
            <a:r>
              <a:rPr sz="1050" b="0">
                <a:solidFill>
                  <a:srgbClr val="B8E0C8"/>
                </a:solidFill>
                <a:latin typeface="Consolas"/>
              </a:rPr>
              <a:t>  # &gt;100% = 多个卷超额配置聚合(thin生效)</a:t>
            </a:r>
          </a:p>
          <a:p>
            <a:pPr>
              <a:spcBef>
                <a:spcPts val="200"/>
              </a:spcBef>
            </a:pPr>
            <a:r>
              <a:rPr sz="1050" b="0">
                <a:solidFill>
                  <a:srgbClr val="B8E0C8"/>
                </a:solidFill>
                <a:latin typeface="Consolas"/>
              </a:rPr>
              <a:t/>
            </a:r>
          </a:p>
          <a:p>
            <a:pPr>
              <a:spcBef>
                <a:spcPts val="200"/>
              </a:spcBef>
            </a:pPr>
            <a:r>
              <a:rPr sz="1050" b="0">
                <a:solidFill>
                  <a:srgbClr val="B8E0C8"/>
                </a:solidFill>
                <a:latin typeface="Consolas"/>
              </a:rPr>
              <a:t># volume show -volume ppttest -fields \</a:t>
            </a:r>
          </a:p>
          <a:p>
            <a:pPr>
              <a:spcBef>
                <a:spcPts val="200"/>
              </a:spcBef>
            </a:pPr>
            <a:r>
              <a:rPr sz="1050" b="0">
                <a:solidFill>
                  <a:srgbClr val="B8E0C8"/>
                </a:solidFill>
                <a:latin typeface="Consolas"/>
              </a:rPr>
              <a:t>#   space-guarantee</a:t>
            </a:r>
          </a:p>
          <a:p>
            <a:pPr>
              <a:spcBef>
                <a:spcPts val="200"/>
              </a:spcBef>
            </a:pPr>
            <a:r>
              <a:rPr sz="1050" b="0">
                <a:solidFill>
                  <a:srgbClr val="B8E0C8"/>
                </a:solidFill>
                <a:latin typeface="Consolas"/>
              </a:rPr>
              <a:t>  ppttest   space-guarantee  none   &lt;- thin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4297680"/>
            <a:ext cx="5486400" cy="19202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0067C5"/>
                </a:solidFill>
                <a:latin typeface="Microsoft YaHei"/>
              </a:rPr>
              <a:t>解读：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1A2B4A"/>
                </a:solidFill>
                <a:latin typeface="Microsoft YaHei"/>
              </a:rPr>
              <a:t>• 聚合 Provisioned 达 163%，远超物理容量，</a:t>
            </a:r>
          </a:p>
          <a:p>
            <a:pPr algn="l">
              <a:spcBef>
                <a:spcPts val="100"/>
              </a:spcBef>
            </a:pPr>
            <a:r>
              <a:rPr sz="1200" b="0">
                <a:solidFill>
                  <a:srgbClr val="5A6B82"/>
                </a:solidFill>
                <a:latin typeface="Microsoft YaHei"/>
              </a:rPr>
              <a:t>  说明所有卷加起来“承诺”的空间 &gt; 实际物理盘，</a:t>
            </a:r>
          </a:p>
          <a:p>
            <a:pPr algn="l">
              <a:spcBef>
                <a:spcPts val="100"/>
              </a:spcBef>
            </a:pPr>
            <a:r>
              <a:rPr sz="1200" b="0">
                <a:solidFill>
                  <a:srgbClr val="5A6B82"/>
                </a:solidFill>
                <a:latin typeface="Microsoft YaHei"/>
              </a:rPr>
              <a:t>  这正是 thin（超配）的体现。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1A2B4A"/>
                </a:solidFill>
                <a:latin typeface="Microsoft YaHei"/>
              </a:rPr>
              <a:t>• 新建 ppttest 卷 space-guarantee=none，</a:t>
            </a:r>
          </a:p>
          <a:p>
            <a:pPr algn="l">
              <a:spcBef>
                <a:spcPts val="100"/>
              </a:spcBef>
            </a:pPr>
            <a:r>
              <a:rPr sz="1200" b="0">
                <a:solidFill>
                  <a:srgbClr val="5A6B82"/>
                </a:solidFill>
                <a:latin typeface="Microsoft YaHei"/>
              </a:rPr>
              <a:t>  即精简卷，不预留 5GB，按实际写入占用。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19088"/>
            <a:ext cx="112471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50" b="0">
                <a:solidFill>
                  <a:srgbClr val="5A6B82"/>
                </a:solidFill>
                <a:latin typeface="Microsoft YaHei"/>
              </a:rPr>
              <a:t>实测：aggregate show-space（163% 超配）+ volume ppttest space-guarantee=none。| 文档：AWS《Volume storage capacity》（卷精简配置、按需分配）。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6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51560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Microsoft YaHei"/>
              </a:rPr>
              <a:t>二、ONTAP 存储管理（6）：快照 Snapshot 的存储占用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78992"/>
            <a:ext cx="11155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5A6B82"/>
                </a:solidFill>
                <a:latin typeface="Microsoft YaHei"/>
              </a:rPr>
              <a:t>快照是只读时间点镜像；snapshot reserve 预留 + 实际占用按变化块计算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25880"/>
            <a:ext cx="5120640" cy="4937760"/>
          </a:xfrm>
          <a:prstGeom prst="round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46634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600" b="1">
                <a:solidFill>
                  <a:srgbClr val="0067C5"/>
                </a:solidFill>
                <a:latin typeface="Microsoft YaHei"/>
              </a:rPr>
              <a:t>快照空间机制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74519"/>
            <a:ext cx="4663440" cy="42976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1A2B4A"/>
                </a:solidFill>
                <a:latin typeface="Microsoft YaHei"/>
              </a:rPr>
              <a:t>• 快照 = 卷的只读时间点镜像（指针）</a:t>
            </a:r>
          </a:p>
          <a:p>
            <a:pPr algn="l">
              <a:spcBef>
                <a:spcPts val="600"/>
              </a:spcBef>
            </a:pPr>
            <a:r>
              <a:rPr sz="1300" b="1">
                <a:solidFill>
                  <a:srgbClr val="2E9E5B"/>
                </a:solidFill>
                <a:latin typeface="Microsoft YaHei"/>
              </a:rPr>
              <a:t>• Snapshot Reserve：卷内预留给快照的空间</a:t>
            </a:r>
          </a:p>
          <a:p>
            <a:pPr algn="l">
              <a:spcBef>
                <a:spcPts val="100"/>
              </a:spcBef>
            </a:pPr>
            <a:r>
              <a:rPr sz="1200" b="0">
                <a:solidFill>
                  <a:srgbClr val="5A6B82"/>
                </a:solidFill>
                <a:latin typeface="Microsoft YaHei"/>
              </a:rPr>
              <a:t>   默认 5%（percent-snapshot-space）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1A2B4A"/>
                </a:solidFill>
                <a:latin typeface="Microsoft YaHei"/>
              </a:rPr>
              <a:t>• 快照只为“变化的块”占空间（写时复制）</a:t>
            </a:r>
          </a:p>
          <a:p>
            <a:pPr algn="l">
              <a:spcBef>
                <a:spcPts val="100"/>
              </a:spcBef>
            </a:pPr>
            <a:r>
              <a:rPr sz="1200" b="0">
                <a:solidFill>
                  <a:srgbClr val="5A6B82"/>
                </a:solidFill>
                <a:latin typeface="Microsoft YaHei"/>
              </a:rPr>
              <a:t>   刚建快照几乎不占，改动越多占越多</a:t>
            </a:r>
          </a:p>
          <a:p>
            <a:pPr algn="l">
              <a:spcBef>
                <a:spcPts val="600"/>
              </a:spcBef>
            </a:pPr>
            <a:r>
              <a:rPr sz="1300" b="1">
                <a:solidFill>
                  <a:srgbClr val="F58220"/>
                </a:solidFill>
                <a:latin typeface="Microsoft YaHei"/>
              </a:rPr>
              <a:t>• 超出 reserve 会“溢出”占用卷活跃空间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1A2B4A"/>
                </a:solidFill>
                <a:latin typeface="Microsoft YaHei"/>
              </a:rPr>
              <a:t>• Snapshot autodelete：空间紧张时自动删</a:t>
            </a:r>
          </a:p>
          <a:p>
            <a:pPr algn="l">
              <a:spcBef>
                <a:spcPts val="100"/>
              </a:spcBef>
            </a:pPr>
            <a:r>
              <a:rPr sz="1200" b="0">
                <a:solidFill>
                  <a:srgbClr val="5A6B82"/>
                </a:solidFill>
                <a:latin typeface="Microsoft YaHei"/>
              </a:rPr>
              <a:t>   实测 ppttest 默认 autodelete=false，</a:t>
            </a:r>
          </a:p>
          <a:p>
            <a:pPr algn="l">
              <a:spcBef>
                <a:spcPts val="100"/>
              </a:spcBef>
            </a:pPr>
            <a:r>
              <a:rPr sz="1200" b="0">
                <a:solidFill>
                  <a:srgbClr val="5A6B82"/>
                </a:solidFill>
                <a:latin typeface="Microsoft YaHei"/>
              </a:rPr>
              <a:t>   target-free-space=20%, oldest_first</a:t>
            </a:r>
          </a:p>
          <a:p>
            <a:pPr algn="l">
              <a:spcBef>
                <a:spcPts val="600"/>
              </a:spcBef>
            </a:pPr>
            <a:r>
              <a:rPr sz="1300" b="1">
                <a:solidFill>
                  <a:srgbClr val="6A5ACD"/>
                </a:solidFill>
                <a:latin typeface="Microsoft YaHei"/>
              </a:rPr>
              <a:t>• 可下沉到容量池（Auto/Snapshot Only 策略）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06440" y="1325880"/>
            <a:ext cx="58978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8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0" y="1417320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F58220"/>
                </a:solidFill>
                <a:latin typeface="Microsoft YaHei"/>
              </a:rPr>
              <a:t>【实测】snapshot reserve 与占用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1874519"/>
            <a:ext cx="5440680" cy="2697480"/>
          </a:xfrm>
          <a:prstGeom prst="roundRect">
            <a:avLst/>
          </a:prstGeom>
          <a:solidFill>
            <a:srgbClr val="10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9632" y="1965959"/>
            <a:ext cx="5111496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050" b="0">
                <a:solidFill>
                  <a:srgbClr val="B8E0C8"/>
                </a:solidFill>
                <a:latin typeface="Consolas"/>
              </a:rPr>
              <a:t># volume show-space -volume ppttest</a:t>
            </a:r>
          </a:p>
          <a:p>
            <a:pPr>
              <a:spcBef>
                <a:spcPts val="200"/>
              </a:spcBef>
            </a:pPr>
            <a:r>
              <a:rPr sz="1050" b="0">
                <a:solidFill>
                  <a:srgbClr val="B8E0C8"/>
                </a:solidFill>
                <a:latin typeface="Consolas"/>
              </a:rPr>
              <a:t>  Snapshot Reserve         256MB</a:t>
            </a:r>
          </a:p>
          <a:p>
            <a:pPr>
              <a:spcBef>
                <a:spcPts val="200"/>
              </a:spcBef>
            </a:pPr>
            <a:r>
              <a:rPr sz="1050" b="0">
                <a:solidFill>
                  <a:srgbClr val="B8E0C8"/>
                </a:solidFill>
                <a:latin typeface="Consolas"/>
              </a:rPr>
              <a:t>  Snapshot Reserve Percent   5%</a:t>
            </a:r>
          </a:p>
          <a:p>
            <a:pPr>
              <a:spcBef>
                <a:spcPts val="200"/>
              </a:spcBef>
            </a:pPr>
            <a:r>
              <a:rPr sz="1050" b="0">
                <a:solidFill>
                  <a:srgbClr val="B8E0C8"/>
                </a:solidFill>
                <a:latin typeface="Consolas"/>
              </a:rPr>
              <a:t/>
            </a:r>
          </a:p>
          <a:p>
            <a:pPr>
              <a:spcBef>
                <a:spcPts val="200"/>
              </a:spcBef>
            </a:pPr>
            <a:r>
              <a:rPr sz="1050" b="0">
                <a:solidFill>
                  <a:srgbClr val="B8E0C8"/>
                </a:solidFill>
                <a:latin typeface="Consolas"/>
              </a:rPr>
              <a:t># 建快照 ppt_snap1 后:</a:t>
            </a:r>
          </a:p>
          <a:p>
            <a:pPr>
              <a:spcBef>
                <a:spcPts val="200"/>
              </a:spcBef>
            </a:pPr>
            <a:r>
              <a:rPr sz="1050" b="0">
                <a:solidFill>
                  <a:srgbClr val="B8E0C8"/>
                </a:solidFill>
                <a:latin typeface="Consolas"/>
              </a:rPr>
              <a:t># volume snapshot show -volume ppttest</a:t>
            </a:r>
          </a:p>
          <a:p>
            <a:pPr>
              <a:spcBef>
                <a:spcPts val="200"/>
              </a:spcBef>
            </a:pPr>
            <a:r>
              <a:rPr sz="1050" b="0">
                <a:solidFill>
                  <a:srgbClr val="B8E0C8"/>
                </a:solidFill>
                <a:latin typeface="Consolas"/>
              </a:rPr>
              <a:t>  ppt_snap1   Size 12.82MB  Used 29%</a:t>
            </a:r>
          </a:p>
          <a:p>
            <a:pPr>
              <a:spcBef>
                <a:spcPts val="200"/>
              </a:spcBef>
            </a:pPr>
            <a:r>
              <a:rPr sz="1050" b="0">
                <a:solidFill>
                  <a:srgbClr val="B8E0C8"/>
                </a:solidFill>
                <a:latin typeface="Consolas"/>
              </a:rPr>
              <a:t/>
            </a:r>
          </a:p>
          <a:p>
            <a:pPr>
              <a:spcBef>
                <a:spcPts val="200"/>
              </a:spcBef>
            </a:pPr>
            <a:r>
              <a:rPr sz="1050" b="0">
                <a:solidFill>
                  <a:srgbClr val="B8E0C8"/>
                </a:solidFill>
                <a:latin typeface="Consolas"/>
              </a:rPr>
              <a:t># 5GB卷 x 5% = 256MB 预留</a:t>
            </a:r>
          </a:p>
          <a:p>
            <a:pPr>
              <a:spcBef>
                <a:spcPts val="200"/>
              </a:spcBef>
            </a:pPr>
            <a:r>
              <a:rPr sz="1050" b="0">
                <a:solidFill>
                  <a:srgbClr val="B8E0C8"/>
                </a:solidFill>
                <a:latin typeface="Consolas"/>
              </a:rPr>
              <a:t># 快照仅占 12.82MB(变化块,远未满 reserve)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4709160"/>
            <a:ext cx="5486400" cy="1463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1A2B4A"/>
                </a:solidFill>
                <a:latin typeface="Microsoft YaHei"/>
              </a:rPr>
              <a:t>解读：5GB 卷按 5% 预留 256MB 快照空间。建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1A2B4A"/>
                </a:solidFill>
                <a:latin typeface="Microsoft YaHei"/>
              </a:rPr>
              <a:t>快照 ppt_snap1 后仅占 12.82MB——因为快照只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5A6B82"/>
                </a:solidFill>
                <a:latin typeface="Microsoft YaHei"/>
              </a:rPr>
              <a:t>记录“自快照点以来变化的块”，写时复制(COW)，</a:t>
            </a:r>
          </a:p>
          <a:p>
            <a:pPr algn="l">
              <a:spcBef>
                <a:spcPts val="100"/>
              </a:spcBef>
            </a:pPr>
            <a:r>
              <a:rPr sz="1200" b="0">
                <a:solidFill>
                  <a:srgbClr val="5A6B82"/>
                </a:solidFill>
                <a:latin typeface="Microsoft YaHei"/>
              </a:rPr>
              <a:t>不是整卷拷贝，所以占用极小。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19088"/>
            <a:ext cx="112471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50" b="0">
                <a:solidFill>
                  <a:srgbClr val="5A6B82"/>
                </a:solidFill>
                <a:latin typeface="Microsoft YaHei"/>
              </a:rPr>
              <a:t>实测：volume show-space（reserve 256MB/5%）+ volume snapshot show（ppt_snap1 12.82MB）+ snapshot autodelete show。| 文档：AWS《Snapshots and volume storage capacity》。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6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51560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Microsoft YaHei"/>
              </a:rPr>
              <a:t>二、ONTAP 存储管理（7）：FSx ONTAP CLI 常用命令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78992"/>
            <a:ext cx="11155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5A6B82"/>
                </a:solidFill>
                <a:latin typeface="Microsoft YaHei"/>
              </a:rPr>
              <a:t>通过 SSH 连 fsxadmin@管理 LIF；本页命令均在 Ohio 集群实测可用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25880"/>
            <a:ext cx="5440680" cy="4937760"/>
          </a:xfrm>
          <a:prstGeom prst="round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08760"/>
            <a:ext cx="498348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0067C5"/>
                </a:solidFill>
                <a:latin typeface="Microsoft YaHei"/>
              </a:rPr>
              <a:t>▸ 集群/版本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20"/>
            <a:ext cx="4892040" cy="1060704"/>
          </a:xfrm>
          <a:prstGeom prst="roundRect">
            <a:avLst/>
          </a:prstGeom>
          <a:solidFill>
            <a:srgbClr val="10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1965960"/>
            <a:ext cx="4562856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050" b="0">
                <a:solidFill>
                  <a:srgbClr val="B8E0C8"/>
                </a:solidFill>
                <a:latin typeface="Consolas"/>
              </a:rPr>
              <a:t>version</a:t>
            </a:r>
          </a:p>
          <a:p>
            <a:pPr>
              <a:spcBef>
                <a:spcPts val="200"/>
              </a:spcBef>
            </a:pPr>
            <a:r>
              <a:rPr sz="1050" b="0">
                <a:solidFill>
                  <a:srgbClr val="B8E0C8"/>
                </a:solidFill>
                <a:latin typeface="Consolas"/>
              </a:rPr>
              <a:t>cluster identity show</a:t>
            </a:r>
          </a:p>
          <a:p>
            <a:pPr>
              <a:spcBef>
                <a:spcPts val="200"/>
              </a:spcBef>
            </a:pPr>
            <a:r>
              <a:rPr sz="1050" b="0">
                <a:solidFill>
                  <a:srgbClr val="B8E0C8"/>
                </a:solidFill>
                <a:latin typeface="Consolas"/>
              </a:rPr>
              <a:t>node show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099816"/>
            <a:ext cx="498348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0067C5"/>
                </a:solidFill>
                <a:latin typeface="Microsoft YaHei"/>
              </a:rPr>
              <a:t>▸ 聚合/存储层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465576"/>
            <a:ext cx="4892040" cy="1060704"/>
          </a:xfrm>
          <a:prstGeom prst="roundRect">
            <a:avLst/>
          </a:prstGeom>
          <a:solidFill>
            <a:srgbClr val="10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3557016"/>
            <a:ext cx="4562856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050" b="0">
                <a:solidFill>
                  <a:srgbClr val="B8E0C8"/>
                </a:solidFill>
                <a:latin typeface="Consolas"/>
              </a:rPr>
              <a:t>storage aggregate show</a:t>
            </a:r>
          </a:p>
          <a:p>
            <a:pPr>
              <a:spcBef>
                <a:spcPts val="200"/>
              </a:spcBef>
            </a:pPr>
            <a:r>
              <a:rPr sz="1050" b="0">
                <a:solidFill>
                  <a:srgbClr val="B8E0C8"/>
                </a:solidFill>
                <a:latin typeface="Consolas"/>
              </a:rPr>
              <a:t>storage aggregate show-space</a:t>
            </a:r>
          </a:p>
          <a:p>
            <a:pPr>
              <a:spcBef>
                <a:spcPts val="200"/>
              </a:spcBef>
            </a:pPr>
            <a:r>
              <a:rPr sz="1050" b="0">
                <a:solidFill>
                  <a:srgbClr val="B8E0C8"/>
                </a:solidFill>
                <a:latin typeface="Consolas"/>
              </a:rPr>
              <a:t>storage aggregate object-store show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690872"/>
            <a:ext cx="498348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0067C5"/>
                </a:solidFill>
                <a:latin typeface="Microsoft YaHei"/>
              </a:rPr>
              <a:t>▸ SVM / 卷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5056632"/>
            <a:ext cx="4892040" cy="1645920"/>
          </a:xfrm>
          <a:prstGeom prst="roundRect">
            <a:avLst/>
          </a:prstGeom>
          <a:solidFill>
            <a:srgbClr val="10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5148072"/>
            <a:ext cx="4562856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050" b="0">
                <a:solidFill>
                  <a:srgbClr val="B8E0C8"/>
                </a:solidFill>
                <a:latin typeface="Consolas"/>
              </a:rPr>
              <a:t>vserver show</a:t>
            </a:r>
          </a:p>
          <a:p>
            <a:pPr>
              <a:spcBef>
                <a:spcPts val="200"/>
              </a:spcBef>
            </a:pPr>
            <a:r>
              <a:rPr sz="1050" b="0">
                <a:solidFill>
                  <a:srgbClr val="B8E0C8"/>
                </a:solidFill>
                <a:latin typeface="Consolas"/>
              </a:rPr>
              <a:t>volume show -vserver &lt;svm&gt;</a:t>
            </a:r>
          </a:p>
          <a:p>
            <a:pPr>
              <a:spcBef>
                <a:spcPts val="200"/>
              </a:spcBef>
            </a:pPr>
            <a:r>
              <a:rPr sz="1050" b="0">
                <a:solidFill>
                  <a:srgbClr val="B8E0C8"/>
                </a:solidFill>
                <a:latin typeface="Consolas"/>
              </a:rPr>
              <a:t>volume show -fields tiering-policy,space-guarantee</a:t>
            </a:r>
          </a:p>
          <a:p>
            <a:pPr>
              <a:spcBef>
                <a:spcPts val="200"/>
              </a:spcBef>
            </a:pPr>
            <a:r>
              <a:rPr sz="1050" b="0">
                <a:solidFill>
                  <a:srgbClr val="B8E0C8"/>
                </a:solidFill>
                <a:latin typeface="Consolas"/>
              </a:rPr>
              <a:t>volume show-space -volume &lt;vol&gt;</a:t>
            </a:r>
          </a:p>
          <a:p>
            <a:pPr>
              <a:spcBef>
                <a:spcPts val="200"/>
              </a:spcBef>
            </a:pPr>
            <a:r>
              <a:rPr sz="1050" b="0">
                <a:solidFill>
                  <a:srgbClr val="B8E0C8"/>
                </a:solidFill>
                <a:latin typeface="Consolas"/>
              </a:rPr>
              <a:t>volume show-footprint -volume &lt;vol&gt;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1325880"/>
            <a:ext cx="5440680" cy="4937760"/>
          </a:xfrm>
          <a:prstGeom prst="round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1508760"/>
            <a:ext cx="498348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0067C5"/>
                </a:solidFill>
                <a:latin typeface="Microsoft YaHei"/>
              </a:rPr>
              <a:t>▸ 存储效率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46520" y="1874520"/>
            <a:ext cx="4892040" cy="768096"/>
          </a:xfrm>
          <a:prstGeom prst="roundRect">
            <a:avLst/>
          </a:prstGeom>
          <a:solidFill>
            <a:srgbClr val="10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11112" y="1965960"/>
            <a:ext cx="4562856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050" b="0">
                <a:solidFill>
                  <a:srgbClr val="B8E0C8"/>
                </a:solidFill>
                <a:latin typeface="Consolas"/>
              </a:rPr>
              <a:t>volume efficiency show -volume &lt;vol&gt;</a:t>
            </a:r>
          </a:p>
          <a:p>
            <a:pPr>
              <a:spcBef>
                <a:spcPts val="200"/>
              </a:spcBef>
            </a:pPr>
            <a:r>
              <a:rPr sz="1050" b="0">
                <a:solidFill>
                  <a:srgbClr val="B8E0C8"/>
                </a:solidFill>
                <a:latin typeface="Consolas"/>
              </a:rPr>
              <a:t>volume efficiency start -volume &lt;vol&gt; -scan-old-data true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807208"/>
            <a:ext cx="498348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0067C5"/>
                </a:solidFill>
                <a:latin typeface="Microsoft YaHei"/>
              </a:rPr>
              <a:t>▸ 快照/备份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46520" y="3172968"/>
            <a:ext cx="4892040" cy="1353312"/>
          </a:xfrm>
          <a:prstGeom prst="roundRect">
            <a:avLst/>
          </a:prstGeom>
          <a:solidFill>
            <a:srgbClr val="10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11112" y="3264408"/>
            <a:ext cx="456285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050" b="0">
                <a:solidFill>
                  <a:srgbClr val="B8E0C8"/>
                </a:solidFill>
                <a:latin typeface="Consolas"/>
              </a:rPr>
              <a:t>volume snapshot show -volume &lt;vol&gt;</a:t>
            </a:r>
          </a:p>
          <a:p>
            <a:pPr>
              <a:spcBef>
                <a:spcPts val="200"/>
              </a:spcBef>
            </a:pPr>
            <a:r>
              <a:rPr sz="1050" b="0">
                <a:solidFill>
                  <a:srgbClr val="B8E0C8"/>
                </a:solidFill>
                <a:latin typeface="Consolas"/>
              </a:rPr>
              <a:t>volume snapshot create -volume &lt;vol&gt; -snapshot &lt;name&gt;</a:t>
            </a:r>
          </a:p>
          <a:p>
            <a:pPr>
              <a:spcBef>
                <a:spcPts val="200"/>
              </a:spcBef>
            </a:pPr>
            <a:r>
              <a:rPr sz="1050" b="0">
                <a:solidFill>
                  <a:srgbClr val="B8E0C8"/>
                </a:solidFill>
                <a:latin typeface="Consolas"/>
              </a:rPr>
              <a:t>snapshot policy show</a:t>
            </a:r>
          </a:p>
          <a:p>
            <a:pPr>
              <a:spcBef>
                <a:spcPts val="200"/>
              </a:spcBef>
            </a:pPr>
            <a:r>
              <a:rPr sz="1050" b="0">
                <a:solidFill>
                  <a:srgbClr val="B8E0C8"/>
                </a:solidFill>
                <a:latin typeface="Consolas"/>
              </a:rPr>
              <a:t>volume snapshot autodelete show -volume &lt;vol&gt;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690872"/>
            <a:ext cx="498348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0067C5"/>
                </a:solidFill>
                <a:latin typeface="Microsoft YaHei"/>
              </a:rPr>
              <a:t>▸ 监控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46520" y="5056632"/>
            <a:ext cx="4892040" cy="1060704"/>
          </a:xfrm>
          <a:prstGeom prst="roundRect">
            <a:avLst/>
          </a:prstGeom>
          <a:solidFill>
            <a:srgbClr val="10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11112" y="5148072"/>
            <a:ext cx="4562856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050" b="0">
                <a:solidFill>
                  <a:srgbClr val="B8E0C8"/>
                </a:solidFill>
                <a:latin typeface="Consolas"/>
              </a:rPr>
              <a:t>statistics volume show -volume &lt;vol&gt;</a:t>
            </a:r>
          </a:p>
          <a:p>
            <a:pPr>
              <a:spcBef>
                <a:spcPts val="200"/>
              </a:spcBef>
            </a:pPr>
            <a:r>
              <a:rPr sz="1050" b="0">
                <a:solidFill>
                  <a:srgbClr val="B8E0C8"/>
                </a:solidFill>
                <a:latin typeface="Consolas"/>
              </a:rPr>
              <a:t>statistics show</a:t>
            </a:r>
          </a:p>
          <a:p>
            <a:pPr>
              <a:spcBef>
                <a:spcPts val="200"/>
              </a:spcBef>
            </a:pPr>
            <a:r>
              <a:rPr sz="1050" b="0">
                <a:solidFill>
                  <a:srgbClr val="B8E0C8"/>
                </a:solidFill>
                <a:latin typeface="Consolas"/>
              </a:rPr>
              <a:t>network interface show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19088"/>
            <a:ext cx="112471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50" b="0">
                <a:solidFill>
                  <a:srgbClr val="5A6B82"/>
                </a:solidFill>
                <a:latin typeface="Microsoft YaHei"/>
              </a:rPr>
              <a:t>实测：以上命令均在 FsxId011719cc94111ed47 通过 ssh fsxadmin@172.31.3.137 执行成功。⚠ 经验：逐条发命令避免横幅截断；advanced 命令加 set -privilege advanced 前缀。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6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51560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Microsoft YaHei"/>
              </a:rPr>
              <a:t>三、FSx Windows vs FSx ONTAP 日常监控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78992"/>
            <a:ext cx="11155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5A6B82"/>
                </a:solidFill>
                <a:latin typeface="Microsoft YaHei"/>
              </a:rPr>
              <a:t>两者都用 CloudWatch（namespace AWS/FSx）；ONTAP 额外有 CLI/statistics 细粒度监控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2103120" cy="658368"/>
          </a:xfrm>
          <a:prstGeom prst="rect">
            <a:avLst/>
          </a:prstGeom>
          <a:solidFill>
            <a:srgbClr val="0067C5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417320"/>
            <a:ext cx="192024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Microsoft YaHei"/>
              </a:rPr>
              <a:t>维度</a:t>
            </a:r>
          </a:p>
        </p:txBody>
      </p:sp>
      <p:sp>
        <p:nvSpPr>
          <p:cNvPr id="9" name="Rectangle 8"/>
          <p:cNvSpPr/>
          <p:nvPr/>
        </p:nvSpPr>
        <p:spPr>
          <a:xfrm>
            <a:off x="2606040" y="1417320"/>
            <a:ext cx="3200400" cy="658368"/>
          </a:xfrm>
          <a:prstGeom prst="rect">
            <a:avLst/>
          </a:prstGeom>
          <a:solidFill>
            <a:srgbClr val="0067C5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97480" y="1417320"/>
            <a:ext cx="301752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Microsoft YaHei"/>
              </a:rPr>
              <a:t>FSx Windows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06440" y="1417320"/>
            <a:ext cx="3657600" cy="658368"/>
          </a:xfrm>
          <a:prstGeom prst="rect">
            <a:avLst/>
          </a:prstGeom>
          <a:solidFill>
            <a:srgbClr val="0067C5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97880" y="1417320"/>
            <a:ext cx="347472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Microsoft YaHei"/>
              </a:rPr>
              <a:t>FSx ONTAP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075688"/>
            <a:ext cx="2103120" cy="658368"/>
          </a:xfrm>
          <a:prstGeom prst="rect">
            <a:avLst/>
          </a:prstGeom>
          <a:solidFill>
            <a:srgbClr val="F2F6FB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075688"/>
            <a:ext cx="192024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0067C5"/>
                </a:solidFill>
                <a:latin typeface="Microsoft YaHei"/>
              </a:rPr>
              <a:t>CloudWatch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06040" y="2075688"/>
            <a:ext cx="3200400" cy="658368"/>
          </a:xfrm>
          <a:prstGeom prst="rect">
            <a:avLst/>
          </a:prstGeom>
          <a:solidFill>
            <a:srgbClr val="F2F6FB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97480" y="2075688"/>
            <a:ext cx="301752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Microsoft YaHei"/>
              </a:rPr>
              <a:t>AWS/FSx 命名空间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06440" y="2075688"/>
            <a:ext cx="3657600" cy="658368"/>
          </a:xfrm>
          <a:prstGeom prst="rect">
            <a:avLst/>
          </a:prstGeom>
          <a:solidFill>
            <a:srgbClr val="F2F6FB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97880" y="2075688"/>
            <a:ext cx="347472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Microsoft YaHei"/>
              </a:rPr>
              <a:t>AWS/FSx，6 类指标维度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2734056"/>
            <a:ext cx="21031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2734056"/>
            <a:ext cx="192024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0067C5"/>
                </a:solidFill>
                <a:latin typeface="Microsoft YaHei"/>
              </a:rPr>
              <a:t>指标周期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06040" y="2734056"/>
            <a:ext cx="32004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97480" y="2734056"/>
            <a:ext cx="301752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Microsoft YaHei"/>
              </a:rPr>
              <a:t>1 分钟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806440" y="2734056"/>
            <a:ext cx="36576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97880" y="2734056"/>
            <a:ext cx="347472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Microsoft YaHei"/>
              </a:rPr>
              <a:t>1 分钟（部分 5 分钟）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3392424"/>
            <a:ext cx="2103120" cy="658368"/>
          </a:xfrm>
          <a:prstGeom prst="rect">
            <a:avLst/>
          </a:prstGeom>
          <a:solidFill>
            <a:srgbClr val="F2F6FB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3392424"/>
            <a:ext cx="192024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0067C5"/>
                </a:solidFill>
                <a:latin typeface="Microsoft YaHei"/>
              </a:rPr>
              <a:t>存储指标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06040" y="3392424"/>
            <a:ext cx="3200400" cy="658368"/>
          </a:xfrm>
          <a:prstGeom prst="rect">
            <a:avLst/>
          </a:prstGeom>
          <a:solidFill>
            <a:srgbClr val="F2F6FB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697480" y="3392424"/>
            <a:ext cx="301752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Microsoft YaHei"/>
              </a:rPr>
              <a:t>StorageCapacity 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06440" y="3392424"/>
            <a:ext cx="3657600" cy="658368"/>
          </a:xfrm>
          <a:prstGeom prst="rect">
            <a:avLst/>
          </a:prstGeom>
          <a:solidFill>
            <a:srgbClr val="F2F6FB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897880" y="3392424"/>
            <a:ext cx="347472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Microsoft YaHei"/>
              </a:rPr>
              <a:t>按层(SSD/容量池)+按数据类型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4050792"/>
            <a:ext cx="21031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4050792"/>
            <a:ext cx="192024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0067C5"/>
                </a:solidFill>
                <a:latin typeface="Microsoft YaHei"/>
              </a:rPr>
              <a:t>性能指标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606040" y="4050792"/>
            <a:ext cx="32004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697480" y="4050792"/>
            <a:ext cx="301752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Microsoft YaHei"/>
              </a:rPr>
              <a:t>吞吐/IOPS(有限)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806440" y="4050792"/>
            <a:ext cx="36576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897880" y="4050792"/>
            <a:ext cx="347472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Microsoft YaHei"/>
              </a:rPr>
              <a:t>卷级/文件系统级/聚合级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4709160"/>
            <a:ext cx="2103120" cy="658368"/>
          </a:xfrm>
          <a:prstGeom prst="rect">
            <a:avLst/>
          </a:prstGeom>
          <a:solidFill>
            <a:srgbClr val="F2F6FB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4360" y="4709160"/>
            <a:ext cx="192024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0067C5"/>
                </a:solidFill>
                <a:latin typeface="Microsoft YaHei"/>
              </a:rPr>
              <a:t>额外手段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606040" y="4709160"/>
            <a:ext cx="3200400" cy="658368"/>
          </a:xfrm>
          <a:prstGeom prst="rect">
            <a:avLst/>
          </a:prstGeom>
          <a:solidFill>
            <a:srgbClr val="F2F6FB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697480" y="4709160"/>
            <a:ext cx="301752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Microsoft YaHei"/>
              </a:rPr>
              <a:t>Windows 性能监视器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806440" y="4709160"/>
            <a:ext cx="3657600" cy="658368"/>
          </a:xfrm>
          <a:prstGeom prst="rect">
            <a:avLst/>
          </a:prstGeom>
          <a:solidFill>
            <a:srgbClr val="F2F6FB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897880" y="4709160"/>
            <a:ext cx="347472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Microsoft YaHei"/>
              </a:rPr>
              <a:t>ONTAP CLI statistics / REST API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02920" y="4160520"/>
            <a:ext cx="5532120" cy="187451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8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40080" y="4270248"/>
            <a:ext cx="5257800" cy="1645920"/>
          </a:xfrm>
          <a:prstGeom prst="roundRect">
            <a:avLst/>
          </a:prstGeom>
          <a:solidFill>
            <a:srgbClr val="10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4672" y="4361688"/>
            <a:ext cx="4928616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58220"/>
                </a:solidFill>
                <a:latin typeface="Consolas"/>
              </a:rPr>
              <a:t>【实测】ONTAP CLI 实时卷统计</a:t>
            </a:r>
          </a:p>
          <a:p>
            <a:pPr>
              <a:spcBef>
                <a:spcPts val="200"/>
              </a:spcBef>
            </a:pPr>
            <a:r>
              <a:rPr sz="1050" b="0">
                <a:solidFill>
                  <a:srgbClr val="B8E0C8"/>
                </a:solidFill>
                <a:latin typeface="Consolas"/>
              </a:rPr>
              <a:t># statistics volume show -volume ppttest</a:t>
            </a:r>
          </a:p>
          <a:p>
            <a:pPr>
              <a:spcBef>
                <a:spcPts val="200"/>
              </a:spcBef>
            </a:pPr>
            <a:r>
              <a:rPr sz="1050" b="0">
                <a:solidFill>
                  <a:srgbClr val="B8E0C8"/>
                </a:solidFill>
                <a:latin typeface="Consolas"/>
              </a:rPr>
              <a:t>Volume   Total Read Write  Read  Write Latency</a:t>
            </a:r>
          </a:p>
          <a:p>
            <a:pPr>
              <a:spcBef>
                <a:spcPts val="200"/>
              </a:spcBef>
            </a:pPr>
            <a:r>
              <a:rPr sz="1050" b="0">
                <a:solidFill>
                  <a:srgbClr val="B8E0C8"/>
                </a:solidFill>
                <a:latin typeface="Consolas"/>
              </a:rPr>
              <a:t>          Ops  Ops  Ops   (Bps) (Bps)  (us)</a:t>
            </a:r>
          </a:p>
          <a:p>
            <a:pPr>
              <a:spcBef>
                <a:spcPts val="200"/>
              </a:spcBef>
            </a:pPr>
            <a:r>
              <a:rPr sz="1050" b="0">
                <a:solidFill>
                  <a:srgbClr val="B8E0C8"/>
                </a:solidFill>
                <a:latin typeface="Consolas"/>
              </a:rPr>
              <a:t>ppttest    1    0    0      0     0     13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17920" y="4160520"/>
            <a:ext cx="5486400" cy="1874519"/>
          </a:xfrm>
          <a:prstGeom prst="round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0" y="4270248"/>
            <a:ext cx="5120640" cy="1691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0067C5"/>
                </a:solidFill>
                <a:latin typeface="Microsoft YaHei"/>
              </a:rPr>
              <a:t>CloudWatch 6 类指标维度（ONTAP 官方）</a:t>
            </a:r>
          </a:p>
          <a:p>
            <a:pPr algn="l">
              <a:spcBef>
                <a:spcPts val="300"/>
              </a:spcBef>
            </a:pPr>
            <a:r>
              <a:rPr sz="1150" b="0">
                <a:solidFill>
                  <a:srgbClr val="1A2B4A"/>
                </a:solidFill>
                <a:latin typeface="Microsoft YaHei"/>
              </a:rPr>
              <a:t>文件系统 / 文件服务器 / 聚合(详细) /</a:t>
            </a:r>
          </a:p>
          <a:p>
            <a:pPr algn="l">
              <a:spcBef>
                <a:spcPts val="100"/>
              </a:spcBef>
            </a:pPr>
            <a:r>
              <a:rPr sz="1150" b="0">
                <a:solidFill>
                  <a:srgbClr val="1A2B4A"/>
                </a:solidFill>
                <a:latin typeface="Microsoft YaHei"/>
              </a:rPr>
              <a:t>文件系统(按存储层) / 卷 / 卷(详细，按数据类型)</a:t>
            </a:r>
          </a:p>
          <a:p>
            <a:pPr algn="l">
              <a:spcBef>
                <a:spcPts val="400"/>
              </a:spcBef>
            </a:pPr>
            <a:r>
              <a:rPr sz="1150" b="1">
                <a:solidFill>
                  <a:srgbClr val="2E9E5B"/>
                </a:solidFill>
                <a:latin typeface="Microsoft YaHei"/>
              </a:rPr>
              <a:t>指标保留 15 个月；可设 CloudWatch 告警</a:t>
            </a:r>
          </a:p>
          <a:p>
            <a:pPr algn="l">
              <a:spcBef>
                <a:spcPts val="400"/>
              </a:spcBef>
            </a:pPr>
            <a:r>
              <a:rPr sz="1150" b="1">
                <a:solidFill>
                  <a:srgbClr val="F58220"/>
                </a:solidFill>
                <a:latin typeface="Microsoft YaHei"/>
              </a:rPr>
              <a:t>ONTAP CLI 提供秒级/实时统计，比 CW 更细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2920" y="6419088"/>
            <a:ext cx="112471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50" b="0">
                <a:solidFill>
                  <a:srgbClr val="5A6B82"/>
                </a:solidFill>
                <a:latin typeface="Microsoft YaHei"/>
              </a:rPr>
              <a:t>实测：statistics volume show。| 文档：AWS《Monitoring with Amazon CloudWatch》（AWS/FSx、1 分钟周期、15 月保留、6 类维度）；Windows《Monitoring》。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6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51560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Microsoft YaHei"/>
              </a:rPr>
              <a:t>四、FSx ONTAP 数据备份保护：Snapshot vs AWS Backup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78992"/>
            <a:ext cx="11155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5A6B82"/>
                </a:solidFill>
                <a:latin typeface="Microsoft YaHei"/>
              </a:rPr>
              <a:t>快照=卷内即时恢复点；AWS Backup=跨 AZ 持久化增量备份，两者互补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2194560" cy="585216"/>
          </a:xfrm>
          <a:prstGeom prst="rect">
            <a:avLst/>
          </a:prstGeom>
          <a:solidFill>
            <a:srgbClr val="0067C5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1371600"/>
            <a:ext cx="1975104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Microsoft YaHei"/>
              </a:rPr>
              <a:t>对比项</a:t>
            </a:r>
          </a:p>
        </p:txBody>
      </p:sp>
      <p:sp>
        <p:nvSpPr>
          <p:cNvPr id="9" name="Rectangle 8"/>
          <p:cNvSpPr/>
          <p:nvPr/>
        </p:nvSpPr>
        <p:spPr>
          <a:xfrm>
            <a:off x="2697480" y="1371600"/>
            <a:ext cx="4023360" cy="585216"/>
          </a:xfrm>
          <a:prstGeom prst="rect">
            <a:avLst/>
          </a:prstGeom>
          <a:solidFill>
            <a:srgbClr val="0067C5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07208" y="1371600"/>
            <a:ext cx="3803904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Microsoft YaHei"/>
              </a:rPr>
              <a:t>ONTAP Snapshot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20840" y="1371600"/>
            <a:ext cx="4937760" cy="585216"/>
          </a:xfrm>
          <a:prstGeom prst="rect">
            <a:avLst/>
          </a:prstGeom>
          <a:solidFill>
            <a:srgbClr val="0067C5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30568" y="1371600"/>
            <a:ext cx="4718304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Microsoft YaHei"/>
              </a:rPr>
              <a:t>AWS Backup / FSx 备份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956816"/>
            <a:ext cx="2194560" cy="585216"/>
          </a:xfrm>
          <a:prstGeom prst="rect">
            <a:avLst/>
          </a:prstGeom>
          <a:solidFill>
            <a:srgbClr val="F2F6FB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" y="1956816"/>
            <a:ext cx="1975104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0067C5"/>
                </a:solidFill>
                <a:latin typeface="Microsoft YaHei"/>
              </a:rPr>
              <a:t>存储位置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97480" y="1956816"/>
            <a:ext cx="4023360" cy="585216"/>
          </a:xfrm>
          <a:prstGeom prst="rect">
            <a:avLst/>
          </a:prstGeom>
          <a:solidFill>
            <a:srgbClr val="F2F6FB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07208" y="1956816"/>
            <a:ext cx="3803904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Microsoft YaHei"/>
              </a:rPr>
              <a:t>卷内（占卷空间）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20840" y="1956816"/>
            <a:ext cx="4937760" cy="585216"/>
          </a:xfrm>
          <a:prstGeom prst="rect">
            <a:avLst/>
          </a:prstGeom>
          <a:solidFill>
            <a:srgbClr val="F2F6FB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30568" y="1956816"/>
            <a:ext cx="4718304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Microsoft YaHei"/>
              </a:rPr>
              <a:t>AWS 托管，跨多 AZ 冗余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2542032"/>
            <a:ext cx="219456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" y="2542032"/>
            <a:ext cx="1975104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0067C5"/>
                </a:solidFill>
                <a:latin typeface="Microsoft YaHei"/>
              </a:rPr>
              <a:t>增量性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97480" y="2542032"/>
            <a:ext cx="402336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807208" y="2542032"/>
            <a:ext cx="3803904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Microsoft YaHei"/>
              </a:rPr>
              <a:t>写时复制(COW)，只存变化块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720840" y="2542032"/>
            <a:ext cx="493776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30568" y="2542032"/>
            <a:ext cx="4718304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Microsoft YaHei"/>
              </a:rPr>
              <a:t>增量，只存上次以来变化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3127248"/>
            <a:ext cx="2194560" cy="585216"/>
          </a:xfrm>
          <a:prstGeom prst="rect">
            <a:avLst/>
          </a:prstGeom>
          <a:solidFill>
            <a:srgbClr val="F2F6FB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2648" y="3127248"/>
            <a:ext cx="1975104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0067C5"/>
                </a:solidFill>
                <a:latin typeface="Microsoft YaHei"/>
              </a:rPr>
              <a:t>粒度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97480" y="3127248"/>
            <a:ext cx="4023360" cy="585216"/>
          </a:xfrm>
          <a:prstGeom prst="rect">
            <a:avLst/>
          </a:prstGeom>
          <a:solidFill>
            <a:srgbClr val="F2F6FB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807208" y="3127248"/>
            <a:ext cx="3803904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Microsoft YaHei"/>
              </a:rPr>
              <a:t>卷级，秒级创建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20840" y="3127248"/>
            <a:ext cx="4937760" cy="585216"/>
          </a:xfrm>
          <a:prstGeom prst="rect">
            <a:avLst/>
          </a:prstGeom>
          <a:solidFill>
            <a:srgbClr val="F2F6FB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30568" y="3127248"/>
            <a:ext cx="4718304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Microsoft YaHei"/>
              </a:rPr>
              <a:t>卷级（仅 RW 卷，不支持 DP）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3712464"/>
            <a:ext cx="219456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2648" y="3712464"/>
            <a:ext cx="1975104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0067C5"/>
                </a:solidFill>
                <a:latin typeface="Microsoft YaHei"/>
              </a:rPr>
              <a:t>恢复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697480" y="3712464"/>
            <a:ext cx="402336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807208" y="3712464"/>
            <a:ext cx="3803904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Microsoft YaHei"/>
              </a:rPr>
              <a:t>卷内快速回滚/单文件恢复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720840" y="3712464"/>
            <a:ext cx="493776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30568" y="3712464"/>
            <a:ext cx="4718304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Microsoft YaHei"/>
              </a:rPr>
              <a:t>恢复到新卷/同区域文件系统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4297680"/>
            <a:ext cx="2194560" cy="585216"/>
          </a:xfrm>
          <a:prstGeom prst="rect">
            <a:avLst/>
          </a:prstGeom>
          <a:solidFill>
            <a:srgbClr val="F2F6FB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2648" y="4297680"/>
            <a:ext cx="1975104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0067C5"/>
                </a:solidFill>
                <a:latin typeface="Microsoft YaHei"/>
              </a:rPr>
              <a:t>一致性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697480" y="4297680"/>
            <a:ext cx="4023360" cy="585216"/>
          </a:xfrm>
          <a:prstGeom prst="rect">
            <a:avLst/>
          </a:prstGeom>
          <a:solidFill>
            <a:srgbClr val="F2F6FB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807208" y="4297680"/>
            <a:ext cx="3803904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Microsoft YaHei"/>
              </a:rPr>
              <a:t>ONTAP 文件系统一致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720840" y="4297680"/>
            <a:ext cx="4937760" cy="585216"/>
          </a:xfrm>
          <a:prstGeom prst="rect">
            <a:avLst/>
          </a:prstGeom>
          <a:solidFill>
            <a:srgbClr val="F2F6FB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30568" y="4297680"/>
            <a:ext cx="4718304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Microsoft YaHei"/>
              </a:rPr>
              <a:t>基于快照，文件系统一致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2920" y="4882896"/>
            <a:ext cx="219456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2648" y="4882896"/>
            <a:ext cx="1975104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0067C5"/>
                </a:solidFill>
                <a:latin typeface="Microsoft YaHei"/>
              </a:rPr>
              <a:t>适用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697480" y="4882896"/>
            <a:ext cx="402336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807208" y="4882896"/>
            <a:ext cx="3803904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Microsoft YaHei"/>
              </a:rPr>
              <a:t>频繁、短周期、就地恢复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720840" y="4882896"/>
            <a:ext cx="493776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830568" y="4882896"/>
            <a:ext cx="4718304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Microsoft YaHei"/>
              </a:rPr>
              <a:t>灾备、合规、长期保留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02920" y="5486400"/>
            <a:ext cx="11201400" cy="777240"/>
          </a:xfrm>
          <a:prstGeom prst="round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85800" y="5559552"/>
            <a:ext cx="1088136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0B5CAB"/>
                </a:solidFill>
                <a:latin typeface="Microsoft YaHei"/>
              </a:rPr>
              <a:t>关键：AWS FSx 备份用快照实现增量——每次备份先建快照存在卷内，与上次备份快照比对只拷变化块；备份会保留卷的存储效率节省。DP/复制目标卷不能备份。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" y="6419088"/>
            <a:ext cx="112471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50" b="0">
                <a:solidFill>
                  <a:srgbClr val="5A6B82"/>
                </a:solidFill>
                <a:latin typeface="Microsoft YaHei"/>
              </a:rPr>
              <a:t>文档：AWS《Protecting your data with volume backups》（增量、per-volume、跨 AZ、基于快照、保留存储效率、不支持 DP 卷）。实测：snapshot policy show 见 CLI 页。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6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51560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Microsoft YaHei"/>
              </a:rPr>
              <a:t>四、备份保留与备份空间管理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78992"/>
            <a:ext cx="11155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5A6B82"/>
                </a:solidFill>
                <a:latin typeface="Microsoft YaHei"/>
              </a:rPr>
              <a:t>自动每日备份 + 手动备份；保留策略 + 增量去重控制成本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25880"/>
            <a:ext cx="5486400" cy="4937760"/>
          </a:xfrm>
          <a:prstGeom prst="round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50292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600" b="1">
                <a:solidFill>
                  <a:srgbClr val="0067C5"/>
                </a:solidFill>
                <a:latin typeface="Microsoft YaHei"/>
              </a:rPr>
              <a:t>备份保留 (官方)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74519"/>
            <a:ext cx="5029200" cy="42976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1A2B4A"/>
                </a:solidFill>
                <a:latin typeface="Microsoft YaHei"/>
              </a:rPr>
              <a:t>• 自动每日备份：创建文件系统时默认开启</a:t>
            </a:r>
          </a:p>
          <a:p>
            <a:pPr algn="l">
              <a:spcBef>
                <a:spcPts val="100"/>
              </a:spcBef>
            </a:pPr>
            <a:r>
              <a:rPr sz="1200" b="0">
                <a:solidFill>
                  <a:srgbClr val="5A6B82"/>
                </a:solidFill>
                <a:latin typeface="Microsoft YaHei"/>
              </a:rPr>
              <a:t>   可配置保留期与每日备份窗口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1A2B4A"/>
                </a:solidFill>
                <a:latin typeface="Microsoft YaHei"/>
              </a:rPr>
              <a:t>• 用户手动备份：随时可发起</a:t>
            </a:r>
          </a:p>
          <a:p>
            <a:pPr algn="l">
              <a:spcBef>
                <a:spcPts val="600"/>
              </a:spcBef>
            </a:pPr>
            <a:r>
              <a:rPr sz="1300" b="1">
                <a:solidFill>
                  <a:srgbClr val="2E9E5B"/>
                </a:solidFill>
                <a:latin typeface="Microsoft YaHei"/>
              </a:rPr>
              <a:t>• 所有备份增量：只存上次以来变化的数据</a:t>
            </a:r>
          </a:p>
          <a:p>
            <a:pPr algn="l">
              <a:spcBef>
                <a:spcPts val="100"/>
              </a:spcBef>
            </a:pPr>
            <a:r>
              <a:rPr sz="1200" b="0">
                <a:solidFill>
                  <a:srgbClr val="5A6B82"/>
                </a:solidFill>
                <a:latin typeface="Microsoft YaHei"/>
              </a:rPr>
              <a:t>   避免重复数据，优化存储成本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1A2B4A"/>
                </a:solidFill>
                <a:latin typeface="Microsoft YaHei"/>
              </a:rPr>
              <a:t>• 删除备份时只删该备份独有的数据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1A2B4A"/>
                </a:solidFill>
                <a:latin typeface="Microsoft YaHei"/>
              </a:rPr>
              <a:t>• 备份跨多 AZ 冗余存储，高持久</a:t>
            </a:r>
          </a:p>
          <a:p>
            <a:pPr algn="l">
              <a:spcBef>
                <a:spcPts val="600"/>
              </a:spcBef>
            </a:pPr>
            <a:r>
              <a:rPr sz="1300" b="1">
                <a:solidFill>
                  <a:srgbClr val="F58220"/>
                </a:solidFill>
                <a:latin typeface="Microsoft YaHei"/>
              </a:rPr>
              <a:t>• 每账户/每卷备份数量有配额限制</a:t>
            </a:r>
          </a:p>
          <a:p>
            <a:pPr algn="l">
              <a:spcBef>
                <a:spcPts val="600"/>
              </a:spcBef>
            </a:pPr>
            <a:r>
              <a:rPr sz="1300" b="1">
                <a:solidFill>
                  <a:srgbClr val="2E9E5B"/>
                </a:solidFill>
                <a:latin typeface="Microsoft YaHei"/>
              </a:rPr>
              <a:t>• 备份保留卷的存储效率节省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325880"/>
            <a:ext cx="5532120" cy="4937760"/>
          </a:xfrm>
          <a:prstGeom prst="round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417320"/>
            <a:ext cx="50292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600" b="1">
                <a:solidFill>
                  <a:srgbClr val="F58220"/>
                </a:solidFill>
                <a:latin typeface="Microsoft YaHei"/>
              </a:rPr>
              <a:t>快照保留（卷内 policy）实测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874519"/>
            <a:ext cx="5074920" cy="2468880"/>
          </a:xfrm>
          <a:prstGeom prst="roundRect">
            <a:avLst/>
          </a:prstGeom>
          <a:solidFill>
            <a:srgbClr val="10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2" y="1965959"/>
            <a:ext cx="4745736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050" b="0">
                <a:solidFill>
                  <a:srgbClr val="B8E0C8"/>
                </a:solidFill>
                <a:latin typeface="Consolas"/>
              </a:rPr>
              <a:t># snapshot policy show</a:t>
            </a:r>
          </a:p>
          <a:p>
            <a:pPr>
              <a:spcBef>
                <a:spcPts val="200"/>
              </a:spcBef>
            </a:pPr>
            <a:r>
              <a:rPr sz="1050" b="0">
                <a:solidFill>
                  <a:srgbClr val="B8E0C8"/>
                </a:solidFill>
                <a:latin typeface="Consolas"/>
              </a:rPr>
              <a:t>default: hourly x6, daily x2, weekly x2</a:t>
            </a:r>
          </a:p>
          <a:p>
            <a:pPr>
              <a:spcBef>
                <a:spcPts val="200"/>
              </a:spcBef>
            </a:pPr>
            <a:r>
              <a:rPr sz="1050" b="0">
                <a:solidFill>
                  <a:srgbClr val="B8E0C8"/>
                </a:solidFill>
                <a:latin typeface="Consolas"/>
              </a:rPr>
              <a:t>default-1weekly: hourly x6,daily x2,weekly x1</a:t>
            </a:r>
          </a:p>
          <a:p>
            <a:pPr>
              <a:spcBef>
                <a:spcPts val="200"/>
              </a:spcBef>
            </a:pPr>
            <a:r>
              <a:rPr sz="1050" b="0">
                <a:solidFill>
                  <a:srgbClr val="B8E0C8"/>
                </a:solidFill>
                <a:latin typeface="Consolas"/>
              </a:rPr>
              <a:t>none: 关闭自动快照</a:t>
            </a:r>
          </a:p>
          <a:p>
            <a:pPr>
              <a:spcBef>
                <a:spcPts val="200"/>
              </a:spcBef>
            </a:pPr>
            <a:r>
              <a:rPr sz="1050" b="0">
                <a:solidFill>
                  <a:srgbClr val="B8E0C8"/>
                </a:solidFill>
                <a:latin typeface="Consolas"/>
              </a:rPr>
              <a:t/>
            </a:r>
          </a:p>
          <a:p>
            <a:pPr>
              <a:spcBef>
                <a:spcPts val="200"/>
              </a:spcBef>
            </a:pPr>
            <a:r>
              <a:rPr sz="1050" b="0">
                <a:solidFill>
                  <a:srgbClr val="B8E0C8"/>
                </a:solidFill>
                <a:latin typeface="Consolas"/>
              </a:rPr>
              <a:t># autodelete (ppttest 默认)</a:t>
            </a:r>
          </a:p>
          <a:p>
            <a:pPr>
              <a:spcBef>
                <a:spcPts val="200"/>
              </a:spcBef>
            </a:pPr>
            <a:r>
              <a:rPr sz="1050" b="0">
                <a:solidFill>
                  <a:srgbClr val="B8E0C8"/>
                </a:solidFill>
                <a:latin typeface="Consolas"/>
              </a:rPr>
              <a:t>Enabled: false  Trigger: volume</a:t>
            </a:r>
          </a:p>
          <a:p>
            <a:pPr>
              <a:spcBef>
                <a:spcPts val="200"/>
              </a:spcBef>
            </a:pPr>
            <a:r>
              <a:rPr sz="1050" b="0">
                <a:solidFill>
                  <a:srgbClr val="B8E0C8"/>
                </a:solidFill>
                <a:latin typeface="Consolas"/>
              </a:rPr>
              <a:t>Target Free Space: 20%  oldest_first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26280"/>
            <a:ext cx="5074920" cy="1691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0067C5"/>
                </a:solidFill>
                <a:latin typeface="Microsoft YaHei"/>
              </a:rPr>
              <a:t>说明：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1A2B4A"/>
                </a:solidFill>
                <a:latin typeface="Microsoft YaHei"/>
              </a:rPr>
              <a:t>• 快照 policy 控制自动快照频率与保留份数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1A2B4A"/>
                </a:solidFill>
                <a:latin typeface="Microsoft YaHei"/>
              </a:rPr>
              <a:t>• autodelete 在卷空间紧张时按规则自动清理</a:t>
            </a:r>
          </a:p>
          <a:p>
            <a:pPr algn="l">
              <a:spcBef>
                <a:spcPts val="100"/>
              </a:spcBef>
            </a:pPr>
            <a:r>
              <a:rPr sz="1200" b="0">
                <a:solidFill>
                  <a:srgbClr val="5A6B82"/>
                </a:solidFill>
                <a:latin typeface="Microsoft YaHei"/>
              </a:rPr>
              <a:t>  老快照，避免快照吃满卷空间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1A2B4A"/>
                </a:solidFill>
                <a:latin typeface="Microsoft YaHei"/>
              </a:rPr>
              <a:t>• 备份(AWS Backup)保留期在 FSx/Backup 侧设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19088"/>
            <a:ext cx="112471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50" b="0">
                <a:solidFill>
                  <a:srgbClr val="5A6B82"/>
                </a:solidFill>
                <a:latin typeface="Microsoft YaHei"/>
              </a:rPr>
              <a:t>实测：snapshot policy show / volume snapshot autodelete show。| 文档：AWS《Automatic daily backups》《User-initiated backups》。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6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51560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Microsoft YaHei"/>
              </a:rPr>
              <a:t>五、Derby 数据库 on FSx（1）：存储协议选择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78992"/>
            <a:ext cx="11155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5A6B82"/>
                </a:solidFill>
                <a:latin typeface="Microsoft YaHei"/>
              </a:rPr>
              <a:t>Apache Derby 是 Java 嵌入式数据库，对文件锁与一致性敏感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25880"/>
            <a:ext cx="5486400" cy="4937760"/>
          </a:xfrm>
          <a:prstGeom prst="round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50292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600" b="1">
                <a:solidFill>
                  <a:srgbClr val="0067C5"/>
                </a:solidFill>
                <a:latin typeface="Microsoft YaHei"/>
              </a:rPr>
              <a:t>协议适用性分析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74519"/>
            <a:ext cx="5029200" cy="42976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2E9E5B"/>
                </a:solidFill>
                <a:latin typeface="Microsoft YaHei"/>
              </a:rPr>
              <a:t>• iSCSI（块存储 / LUN）—— 最推荐</a:t>
            </a:r>
          </a:p>
          <a:p>
            <a:pPr algn="l">
              <a:spcBef>
                <a:spcPts val="100"/>
              </a:spcBef>
            </a:pPr>
            <a:r>
              <a:rPr sz="1200" b="0">
                <a:solidFill>
                  <a:srgbClr val="5A6B82"/>
                </a:solidFill>
                <a:latin typeface="Microsoft YaHei"/>
              </a:rPr>
              <a:t>   单主机独占块设备，本地文件系统语义，</a:t>
            </a:r>
          </a:p>
          <a:p>
            <a:pPr algn="l">
              <a:spcBef>
                <a:spcPts val="100"/>
              </a:spcBef>
            </a:pPr>
            <a:r>
              <a:rPr sz="1200" b="0">
                <a:solidFill>
                  <a:srgbClr val="5A6B82"/>
                </a:solidFill>
                <a:latin typeface="Microsoft YaHei"/>
              </a:rPr>
              <a:t>   文件锁与 fsync 行为最接近本地盘</a:t>
            </a:r>
          </a:p>
          <a:p>
            <a:pPr algn="l">
              <a:spcBef>
                <a:spcPts val="600"/>
              </a:spcBef>
            </a:pPr>
            <a:r>
              <a:rPr sz="1300" b="1">
                <a:solidFill>
                  <a:srgbClr val="F58220"/>
                </a:solidFill>
                <a:latin typeface="Microsoft YaHei"/>
              </a:rPr>
              <a:t>• SMB（Windows）—— 可用，注意 oplock</a:t>
            </a:r>
          </a:p>
          <a:p>
            <a:pPr algn="l">
              <a:spcBef>
                <a:spcPts val="100"/>
              </a:spcBef>
            </a:pPr>
            <a:r>
              <a:rPr sz="1200" b="0">
                <a:solidFill>
                  <a:srgbClr val="5A6B82"/>
                </a:solidFill>
                <a:latin typeface="Microsoft YaHei"/>
              </a:rPr>
              <a:t>   FSx Windows 走 SMB；Derby 在 Windows</a:t>
            </a:r>
          </a:p>
          <a:p>
            <a:pPr algn="l">
              <a:spcBef>
                <a:spcPts val="100"/>
              </a:spcBef>
            </a:pPr>
            <a:r>
              <a:rPr sz="1200" b="0">
                <a:solidFill>
                  <a:srgbClr val="5A6B82"/>
                </a:solidFill>
                <a:latin typeface="Microsoft YaHei"/>
              </a:rPr>
              <a:t>   本地/SMB 共享需关注锁与缓存语义</a:t>
            </a:r>
          </a:p>
          <a:p>
            <a:pPr algn="l">
              <a:spcBef>
                <a:spcPts val="600"/>
              </a:spcBef>
            </a:pPr>
            <a:r>
              <a:rPr sz="1300" b="1">
                <a:solidFill>
                  <a:srgbClr val="C0392B"/>
                </a:solidFill>
                <a:latin typeface="Microsoft YaHei"/>
              </a:rPr>
              <a:t>• NFS —— 谨慎，Derby 官方有明确警告</a:t>
            </a:r>
          </a:p>
          <a:p>
            <a:pPr algn="l">
              <a:spcBef>
                <a:spcPts val="100"/>
              </a:spcBef>
            </a:pPr>
            <a:r>
              <a:rPr sz="1200" b="0">
                <a:solidFill>
                  <a:srgbClr val="5A6B82"/>
                </a:solidFill>
                <a:latin typeface="Microsoft YaHei"/>
              </a:rPr>
              <a:t>   Derby 开发指南指出在 NFS(UNIX)/远程共享</a:t>
            </a:r>
          </a:p>
          <a:p>
            <a:pPr algn="l">
              <a:spcBef>
                <a:spcPts val="100"/>
              </a:spcBef>
            </a:pPr>
            <a:r>
              <a:rPr sz="1200" b="0">
                <a:solidFill>
                  <a:srgbClr val="5A6B82"/>
                </a:solidFill>
                <a:latin typeface="Microsoft YaHei"/>
              </a:rPr>
              <a:t>   文件上运行数据库存在文件锁可靠性风险</a:t>
            </a:r>
          </a:p>
          <a:p>
            <a:pPr algn="l">
              <a:spcBef>
                <a:spcPts val="100"/>
              </a:spcBef>
            </a:pPr>
            <a:r>
              <a:rPr sz="1200" b="1">
                <a:solidFill>
                  <a:srgbClr val="C0392B"/>
                </a:solidFill>
                <a:latin typeface="Microsoft YaHei"/>
              </a:rPr>
              <a:t>   多客户端并发访问同一库文件易损坏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325880"/>
            <a:ext cx="553212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7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463040"/>
            <a:ext cx="50292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600" b="1">
                <a:solidFill>
                  <a:srgbClr val="0067C5"/>
                </a:solidFill>
                <a:latin typeface="Microsoft YaHei"/>
              </a:rPr>
              <a:t>建议（综合文档）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920240"/>
            <a:ext cx="5029200" cy="4114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2E9E5B"/>
                </a:solidFill>
                <a:latin typeface="Microsoft YaHei"/>
              </a:rPr>
              <a:t>✅ FSx ONTAP + iSCSI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1A2B4A"/>
                </a:solidFill>
                <a:latin typeface="Microsoft YaHei"/>
              </a:rPr>
              <a:t>   给 Derby 提供块设备，单实例挂载，</a:t>
            </a:r>
          </a:p>
          <a:p>
            <a:pPr algn="l">
              <a:spcBef>
                <a:spcPts val="100"/>
              </a:spcBef>
            </a:pPr>
            <a:r>
              <a:rPr sz="1200" b="0">
                <a:solidFill>
                  <a:srgbClr val="1A2B4A"/>
                </a:solidFill>
                <a:latin typeface="Microsoft YaHei"/>
              </a:rPr>
              <a:t>   最稳妥、最接近本地磁盘语义</a:t>
            </a:r>
          </a:p>
          <a:p>
            <a:pPr algn="l">
              <a:spcBef>
                <a:spcPts val="800"/>
              </a:spcBef>
            </a:pPr>
            <a:r>
              <a:rPr sz="1400" b="1">
                <a:solidFill>
                  <a:srgbClr val="2E9E5B"/>
                </a:solidFill>
                <a:latin typeface="Microsoft YaHei"/>
              </a:rPr>
              <a:t>✅ FSx Windows + 本地 NTFS（SMB）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1A2B4A"/>
                </a:solidFill>
                <a:latin typeface="Microsoft YaHei"/>
              </a:rPr>
              <a:t>   Windows 嵌入式 Derby 单机场景适用</a:t>
            </a:r>
          </a:p>
          <a:p>
            <a:pPr algn="l">
              <a:spcBef>
                <a:spcPts val="800"/>
              </a:spcBef>
            </a:pPr>
            <a:r>
              <a:rPr sz="1400" b="1">
                <a:solidFill>
                  <a:srgbClr val="F58220"/>
                </a:solidFill>
                <a:latin typeface="Microsoft YaHei"/>
              </a:rPr>
              <a:t>⚠ 若必须用 NFS：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1A2B4A"/>
                </a:solidFill>
                <a:latin typeface="Microsoft YaHei"/>
              </a:rPr>
              <a:t>   - 仅单客户端独占挂载</a:t>
            </a:r>
          </a:p>
          <a:p>
            <a:pPr algn="l">
              <a:spcBef>
                <a:spcPts val="100"/>
              </a:spcBef>
            </a:pPr>
            <a:r>
              <a:rPr sz="1200" b="0">
                <a:solidFill>
                  <a:srgbClr val="1A2B4A"/>
                </a:solidFill>
                <a:latin typeface="Microsoft YaHei"/>
              </a:rPr>
              <a:t>   - 用 hard,sync 挂载选项</a:t>
            </a:r>
          </a:p>
          <a:p>
            <a:pPr algn="l">
              <a:spcBef>
                <a:spcPts val="100"/>
              </a:spcBef>
            </a:pPr>
            <a:r>
              <a:rPr sz="1200" b="0">
                <a:solidFill>
                  <a:srgbClr val="1A2B4A"/>
                </a:solidFill>
                <a:latin typeface="Microsoft YaHei"/>
              </a:rPr>
              <a:t>   - 关闭客户端属性缓存(actimeo=0 类)</a:t>
            </a:r>
          </a:p>
          <a:p>
            <a:pPr algn="l">
              <a:spcBef>
                <a:spcPts val="100"/>
              </a:spcBef>
            </a:pPr>
            <a:r>
              <a:rPr sz="1200" b="1">
                <a:solidFill>
                  <a:srgbClr val="C0392B"/>
                </a:solidFill>
                <a:latin typeface="Microsoft YaHei"/>
              </a:rPr>
              <a:t>   - 务必充分测试，Derby 不官方背书 NFS</a:t>
            </a:r>
          </a:p>
          <a:p>
            <a:pPr algn="l">
              <a:spcBef>
                <a:spcPts val="600"/>
              </a:spcBef>
            </a:pPr>
            <a:r>
              <a:rPr sz="1100" b="0">
                <a:solidFill>
                  <a:srgbClr val="5A6B82"/>
                </a:solidFill>
                <a:latin typeface="Microsoft YaHei"/>
              </a:rPr>
              <a:t>（我不确定具体 NFS 参数组合是否被 Derby</a:t>
            </a:r>
          </a:p>
          <a:p>
            <a:pPr algn="l">
              <a:spcBef>
                <a:spcPts val="100"/>
              </a:spcBef>
            </a:pPr>
            <a:r>
              <a:rPr sz="1100" b="0">
                <a:solidFill>
                  <a:srgbClr val="5A6B82"/>
                </a:solidFill>
                <a:latin typeface="Microsoft YaHei"/>
              </a:rPr>
              <a:t> 官方完全支持，建议以实际测试与厂商确认为准）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19088"/>
            <a:ext cx="112471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50" b="0">
                <a:solidFill>
                  <a:srgbClr val="5A6B82"/>
                </a:solidFill>
                <a:latin typeface="Microsoft YaHei"/>
              </a:rPr>
              <a:t>文档：Apache Derby Developer's Guide（明确讨论 NFS on UNIX 与 Windows 远程共享文件的限制）。iSCSI/SMB 语义结论为基于协议特性的工程判断，标注不确定项。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6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51560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Microsoft YaHei"/>
              </a:rPr>
              <a:t>五、Derby 数据库 on FSx（2）：落盘同步与一致性“, ”数据库强一致依赖“写真正落盘”——sync 语义在不同协议/ONTAP 下的行为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5486400" cy="4937760"/>
          </a:xfrm>
          <a:prstGeom prst="round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50292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600" b="1">
                <a:solidFill>
                  <a:srgbClr val="0067C5"/>
                </a:solidFill>
                <a:latin typeface="Microsoft YaHei"/>
              </a:rPr>
              <a:t>sync vs async 与一致性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74519"/>
            <a:ext cx="5029200" cy="42976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1A2B4A"/>
                </a:solidFill>
                <a:latin typeface="Microsoft YaHei"/>
              </a:rPr>
              <a:t>• Derby 通过 fsync/FileChannel.force 把日志</a:t>
            </a:r>
          </a:p>
          <a:p>
            <a:pPr algn="l">
              <a:spcBef>
                <a:spcPts val="100"/>
              </a:spcBef>
            </a:pPr>
            <a:r>
              <a:rPr sz="1200" b="0">
                <a:solidFill>
                  <a:srgbClr val="5A6B82"/>
                </a:solidFill>
                <a:latin typeface="Microsoft YaHei"/>
              </a:rPr>
              <a:t>   与数据强制落盘，保证事务持久性(D)</a:t>
            </a:r>
          </a:p>
          <a:p>
            <a:pPr algn="l">
              <a:spcBef>
                <a:spcPts val="600"/>
              </a:spcBef>
            </a:pPr>
            <a:r>
              <a:rPr sz="1300" b="1">
                <a:solidFill>
                  <a:srgbClr val="F58220"/>
                </a:solidFill>
                <a:latin typeface="Microsoft YaHei"/>
              </a:rPr>
              <a:t>• NFS sync 挂载：写请求要服务端确认落盘</a:t>
            </a:r>
          </a:p>
          <a:p>
            <a:pPr algn="l">
              <a:spcBef>
                <a:spcPts val="100"/>
              </a:spcBef>
            </a:pPr>
            <a:r>
              <a:rPr sz="1200" b="0">
                <a:solidFill>
                  <a:srgbClr val="5A6B82"/>
                </a:solidFill>
                <a:latin typeface="Microsoft YaHei"/>
              </a:rPr>
              <a:t>   才返回；async 则可能仅到缓存即返回，</a:t>
            </a:r>
          </a:p>
          <a:p>
            <a:pPr algn="l">
              <a:spcBef>
                <a:spcPts val="100"/>
              </a:spcBef>
            </a:pPr>
            <a:r>
              <a:rPr sz="1200" b="1">
                <a:solidFill>
                  <a:srgbClr val="C0392B"/>
                </a:solidFill>
                <a:latin typeface="Microsoft YaHei"/>
              </a:rPr>
              <a:t>   断电/崩溃有丢数据风险</a:t>
            </a:r>
          </a:p>
          <a:p>
            <a:pPr algn="l">
              <a:spcBef>
                <a:spcPts val="600"/>
              </a:spcBef>
            </a:pPr>
            <a:r>
              <a:rPr sz="1300" b="1">
                <a:solidFill>
                  <a:srgbClr val="F58220"/>
                </a:solidFill>
                <a:latin typeface="Microsoft YaHei"/>
              </a:rPr>
              <a:t>• SMB：oplock/lease 缓存影响可见性，</a:t>
            </a:r>
          </a:p>
          <a:p>
            <a:pPr algn="l">
              <a:spcBef>
                <a:spcPts val="100"/>
              </a:spcBef>
            </a:pPr>
            <a:r>
              <a:rPr sz="1200" b="0">
                <a:solidFill>
                  <a:srgbClr val="5A6B82"/>
                </a:solidFill>
                <a:latin typeface="Microsoft YaHei"/>
              </a:rPr>
              <a:t>   写穿透与 flush 行为需关注</a:t>
            </a:r>
          </a:p>
          <a:p>
            <a:pPr algn="l">
              <a:spcBef>
                <a:spcPts val="600"/>
              </a:spcBef>
            </a:pPr>
            <a:r>
              <a:rPr sz="1300" b="1">
                <a:solidFill>
                  <a:srgbClr val="2E9E5B"/>
                </a:solidFill>
                <a:latin typeface="Microsoft YaHei"/>
              </a:rPr>
              <a:t>• iSCSI：块级，OS 文件系统控制 fsync，</a:t>
            </a:r>
          </a:p>
          <a:p>
            <a:pPr algn="l">
              <a:spcBef>
                <a:spcPts val="100"/>
              </a:spcBef>
            </a:pPr>
            <a:r>
              <a:rPr sz="1200" b="0">
                <a:solidFill>
                  <a:srgbClr val="5A6B82"/>
                </a:solidFill>
                <a:latin typeface="Microsoft YaHei"/>
              </a:rPr>
              <a:t>   语义最接近本地盘</a:t>
            </a:r>
          </a:p>
          <a:p>
            <a:pPr algn="l">
              <a:spcBef>
                <a:spcPts val="600"/>
              </a:spcBef>
            </a:pPr>
            <a:r>
              <a:rPr sz="1300" b="1">
                <a:solidFill>
                  <a:srgbClr val="6A5ACD"/>
                </a:solidFill>
                <a:latin typeface="Microsoft YaHei"/>
              </a:rPr>
              <a:t>• ONTAP 侧：WAFL + NVRAM/NVLOG 保护，</a:t>
            </a:r>
          </a:p>
          <a:p>
            <a:pPr algn="l">
              <a:spcBef>
                <a:spcPts val="100"/>
              </a:spcBef>
            </a:pPr>
            <a:r>
              <a:rPr sz="1200" b="0">
                <a:solidFill>
                  <a:srgbClr val="5A6B82"/>
                </a:solidFill>
                <a:latin typeface="Microsoft YaHei"/>
              </a:rPr>
              <a:t>   确认的写在掉电时由 NVRAM 保障不丢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25880"/>
            <a:ext cx="553212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7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463040"/>
            <a:ext cx="50292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600" b="1">
                <a:solidFill>
                  <a:srgbClr val="0067C5"/>
                </a:solidFill>
                <a:latin typeface="Microsoft YaHei"/>
              </a:rPr>
              <a:t>强一致性建议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920240"/>
            <a:ext cx="5029200" cy="4114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F58220"/>
                </a:solidFill>
                <a:latin typeface="Microsoft YaHei"/>
              </a:rPr>
              <a:t>要点：</a:t>
            </a:r>
          </a:p>
          <a:p>
            <a:pPr algn="l">
              <a:spcBef>
                <a:spcPts val="300"/>
              </a:spcBef>
            </a:pPr>
            <a:r>
              <a:rPr sz="1200" b="1">
                <a:solidFill>
                  <a:srgbClr val="1A2B4A"/>
                </a:solidFill>
                <a:latin typeface="Microsoft YaHei"/>
              </a:rPr>
              <a:t>• 数据库要“强持久”必须保证 fsync 真正落盘</a:t>
            </a:r>
          </a:p>
          <a:p>
            <a:pPr algn="l">
              <a:spcBef>
                <a:spcPts val="500"/>
              </a:spcBef>
            </a:pPr>
            <a:r>
              <a:rPr sz="1200" b="0">
                <a:solidFill>
                  <a:srgbClr val="1A2B4A"/>
                </a:solidFill>
                <a:latin typeface="Microsoft YaHei"/>
              </a:rPr>
              <a:t>• NFS 用 sync（或 hard + 应用 fsync）</a:t>
            </a:r>
          </a:p>
          <a:p>
            <a:pPr algn="l">
              <a:spcBef>
                <a:spcPts val="100"/>
              </a:spcBef>
            </a:pPr>
            <a:r>
              <a:rPr sz="1200" b="0">
                <a:solidFill>
                  <a:srgbClr val="5A6B82"/>
                </a:solidFill>
                <a:latin typeface="Microsoft YaHei"/>
              </a:rPr>
              <a:t>   避免 async 带来的崩溃丢数据</a:t>
            </a:r>
          </a:p>
          <a:p>
            <a:pPr algn="l">
              <a:spcBef>
                <a:spcPts val="500"/>
              </a:spcBef>
            </a:pPr>
            <a:r>
              <a:rPr sz="1200" b="0">
                <a:solidFill>
                  <a:srgbClr val="1A2B4A"/>
                </a:solidFill>
                <a:latin typeface="Microsoft YaHei"/>
              </a:rPr>
              <a:t>• ONTAP 对“已确认的写”有 NVRAM/NVLOG</a:t>
            </a:r>
          </a:p>
          <a:p>
            <a:pPr algn="l">
              <a:spcBef>
                <a:spcPts val="100"/>
              </a:spcBef>
            </a:pPr>
            <a:r>
              <a:rPr sz="1200" b="0">
                <a:solidFill>
                  <a:srgbClr val="5A6B82"/>
                </a:solidFill>
                <a:latin typeface="Microsoft YaHei"/>
              </a:rPr>
              <a:t>   保护，正常返回的 fsync 视为持久</a:t>
            </a:r>
          </a:p>
          <a:p>
            <a:pPr algn="l">
              <a:spcBef>
                <a:spcPts val="500"/>
              </a:spcBef>
            </a:pPr>
            <a:r>
              <a:rPr sz="1200" b="1">
                <a:solidFill>
                  <a:srgbClr val="2E9E5B"/>
                </a:solidFill>
                <a:latin typeface="Microsoft YaHei"/>
              </a:rPr>
              <a:t>• 推荐 iSCSI：块语义 + 本地 FS 的 fsync</a:t>
            </a:r>
          </a:p>
          <a:p>
            <a:pPr algn="l">
              <a:spcBef>
                <a:spcPts val="100"/>
              </a:spcBef>
            </a:pPr>
            <a:r>
              <a:rPr sz="1200" b="0">
                <a:solidFill>
                  <a:srgbClr val="5A6B82"/>
                </a:solidFill>
                <a:latin typeface="Microsoft YaHei"/>
              </a:rPr>
              <a:t>   行为，对数据库最可控</a:t>
            </a:r>
          </a:p>
          <a:p>
            <a:pPr algn="l">
              <a:spcBef>
                <a:spcPts val="400"/>
              </a:spcBef>
            </a:pPr>
            <a:r>
              <a:rPr sz="600" b="0">
                <a:solidFill>
                  <a:srgbClr val="5A6B82"/>
                </a:solidFill>
                <a:latin typeface="Microsoft YaHei"/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250" b="1">
                <a:solidFill>
                  <a:srgbClr val="C0392B"/>
                </a:solidFill>
                <a:latin typeface="Microsoft YaHei"/>
              </a:rPr>
              <a:t>⚠ 不确定项：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5A6B82"/>
                </a:solidFill>
                <a:latin typeface="Microsoft YaHei"/>
              </a:rPr>
              <a:t>Derby 在 FSx ONTAP 各协议下的端到端持久性</a:t>
            </a:r>
          </a:p>
          <a:p>
            <a:pPr algn="l">
              <a:spcBef>
                <a:spcPts val="100"/>
              </a:spcBef>
            </a:pPr>
            <a:r>
              <a:rPr sz="1100" b="0">
                <a:solidFill>
                  <a:srgbClr val="5A6B82"/>
                </a:solidFill>
                <a:latin typeface="Microsoft YaHei"/>
              </a:rPr>
              <a:t>未做实测压测，以上为基于协议/ONTAP 文档的</a:t>
            </a:r>
          </a:p>
          <a:p>
            <a:pPr algn="l">
              <a:spcBef>
                <a:spcPts val="100"/>
              </a:spcBef>
            </a:pPr>
            <a:r>
              <a:rPr sz="1100" b="0">
                <a:solidFill>
                  <a:srgbClr val="5A6B82"/>
                </a:solidFill>
                <a:latin typeface="Microsoft YaHei"/>
              </a:rPr>
              <a:t>分析，生产前建议做掉电/崩溃一致性验证。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19088"/>
            <a:ext cx="112471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50" b="0">
                <a:solidFill>
                  <a:srgbClr val="5A6B82"/>
                </a:solidFill>
                <a:latin typeface="Microsoft YaHei"/>
              </a:rPr>
              <a:t>文档：NFS sync/async 语义、SMB oplock、iSCSI 块语义为通用协议知识；ONTAP NVRAM/WAFL 写保护见 NetApp 文档。Derby 端到端落盘未实测，已标注不确定。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6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51560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Microsoft YaHei"/>
              </a:rPr>
              <a:t>总结：选型与实测要点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78992"/>
            <a:ext cx="11155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5A6B82"/>
                </a:solidFill>
                <a:latin typeface="Microsoft YaHei"/>
              </a:rPr>
              <a:t>FSx Windows vs FSx ONTAP + 本次 Ohio 实测验证清单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2286000" cy="548640"/>
          </a:xfrm>
          <a:prstGeom prst="rect">
            <a:avLst/>
          </a:prstGeom>
          <a:solidFill>
            <a:srgbClr val="0067C5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1371600"/>
            <a:ext cx="2066544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主题</a:t>
            </a:r>
          </a:p>
        </p:txBody>
      </p:sp>
      <p:sp>
        <p:nvSpPr>
          <p:cNvPr id="9" name="Rectangle 8"/>
          <p:cNvSpPr/>
          <p:nvPr/>
        </p:nvSpPr>
        <p:spPr>
          <a:xfrm>
            <a:off x="2788920" y="1371600"/>
            <a:ext cx="6675120" cy="548640"/>
          </a:xfrm>
          <a:prstGeom prst="rect">
            <a:avLst/>
          </a:prstGeom>
          <a:solidFill>
            <a:srgbClr val="0067C5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98648" y="1371600"/>
            <a:ext cx="6455664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结论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464040" y="1371600"/>
            <a:ext cx="2240280" cy="548640"/>
          </a:xfrm>
          <a:prstGeom prst="rect">
            <a:avLst/>
          </a:prstGeom>
          <a:solidFill>
            <a:srgbClr val="0067C5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73768" y="1371600"/>
            <a:ext cx="2020824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依据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920240"/>
            <a:ext cx="2286000" cy="548640"/>
          </a:xfrm>
          <a:prstGeom prst="rect">
            <a:avLst/>
          </a:prstGeom>
          <a:solidFill>
            <a:srgbClr val="F2F6FB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" y="1920240"/>
            <a:ext cx="2066544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50" b="1">
                <a:solidFill>
                  <a:srgbClr val="0067C5"/>
                </a:solidFill>
                <a:latin typeface="Microsoft YaHei"/>
              </a:rPr>
              <a:t>协议/定位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88920" y="1920240"/>
            <a:ext cx="6675120" cy="548640"/>
          </a:xfrm>
          <a:prstGeom prst="rect">
            <a:avLst/>
          </a:prstGeom>
          <a:solidFill>
            <a:srgbClr val="F2F6FB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98648" y="1920240"/>
            <a:ext cx="6455664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50" b="0">
                <a:solidFill>
                  <a:srgbClr val="1A2B4A"/>
                </a:solidFill>
                <a:latin typeface="Microsoft YaHei"/>
              </a:rPr>
              <a:t>Windows=纯SMB; ONTAP=NFS/SMB/iSCSI多协议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464040" y="1920240"/>
            <a:ext cx="2240280" cy="548640"/>
          </a:xfrm>
          <a:prstGeom prst="rect">
            <a:avLst/>
          </a:prstGeom>
          <a:solidFill>
            <a:srgbClr val="F2F6FB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73768" y="1920240"/>
            <a:ext cx="2020824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050" b="0">
                <a:solidFill>
                  <a:srgbClr val="1A2B4A"/>
                </a:solidFill>
                <a:latin typeface="Microsoft YaHei"/>
              </a:rPr>
              <a:t>官方文档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2468880"/>
            <a:ext cx="22860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" y="2468880"/>
            <a:ext cx="2066544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50" b="1">
                <a:solidFill>
                  <a:srgbClr val="0067C5"/>
                </a:solidFill>
                <a:latin typeface="Microsoft YaHei"/>
              </a:rPr>
              <a:t>存储分层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88920" y="2468880"/>
            <a:ext cx="66751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898648" y="2468880"/>
            <a:ext cx="6455664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50" b="0">
                <a:solidFill>
                  <a:srgbClr val="1A2B4A"/>
                </a:solidFill>
                <a:latin typeface="Microsoft YaHei"/>
              </a:rPr>
              <a:t>SSD主层+容量池自动分层(Auto/SnapOnly/All/None)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464040" y="2468880"/>
            <a:ext cx="224028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73768" y="2468880"/>
            <a:ext cx="2020824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050" b="0">
                <a:solidFill>
                  <a:srgbClr val="1A2B4A"/>
                </a:solidFill>
                <a:latin typeface="Microsoft YaHei"/>
              </a:rPr>
              <a:t>文档+实测4策略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3017520"/>
            <a:ext cx="2286000" cy="548640"/>
          </a:xfrm>
          <a:prstGeom prst="rect">
            <a:avLst/>
          </a:prstGeom>
          <a:solidFill>
            <a:srgbClr val="F2F6FB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2648" y="3017520"/>
            <a:ext cx="2066544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50" b="1">
                <a:solidFill>
                  <a:srgbClr val="0067C5"/>
                </a:solidFill>
                <a:latin typeface="Microsoft YaHei"/>
              </a:rPr>
              <a:t>存储效率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88920" y="3017520"/>
            <a:ext cx="6675120" cy="548640"/>
          </a:xfrm>
          <a:prstGeom prst="rect">
            <a:avLst/>
          </a:prstGeom>
          <a:solidFill>
            <a:srgbClr val="F2F6FB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898648" y="3017520"/>
            <a:ext cx="6455664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50" b="0">
                <a:solidFill>
                  <a:srgbClr val="1A2B4A"/>
                </a:solidFill>
                <a:latin typeface="Microsoft YaHei"/>
              </a:rPr>
              <a:t>去重/压缩/压实, 实测去重省 99%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464040" y="3017520"/>
            <a:ext cx="2240280" cy="548640"/>
          </a:xfrm>
          <a:prstGeom prst="rect">
            <a:avLst/>
          </a:prstGeom>
          <a:solidFill>
            <a:srgbClr val="F2F6FB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73768" y="3017520"/>
            <a:ext cx="2020824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050" b="0">
                <a:solidFill>
                  <a:srgbClr val="1A2B4A"/>
                </a:solidFill>
                <a:latin typeface="Microsoft YaHei"/>
              </a:rPr>
              <a:t>实测 ppttest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3566160"/>
            <a:ext cx="22860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2648" y="3566160"/>
            <a:ext cx="2066544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50" b="1">
                <a:solidFill>
                  <a:srgbClr val="0067C5"/>
                </a:solidFill>
                <a:latin typeface="Microsoft YaHei"/>
              </a:rPr>
              <a:t>精简配置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88920" y="3566160"/>
            <a:ext cx="66751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898648" y="3566160"/>
            <a:ext cx="6455664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50" b="0">
                <a:solidFill>
                  <a:srgbClr val="1A2B4A"/>
                </a:solidFill>
                <a:latin typeface="Microsoft YaHei"/>
              </a:rPr>
              <a:t>默认 thin, 聚合超配 163%(实测)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464040" y="3566160"/>
            <a:ext cx="224028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73768" y="3566160"/>
            <a:ext cx="2020824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050" b="0">
                <a:solidFill>
                  <a:srgbClr val="1A2B4A"/>
                </a:solidFill>
                <a:latin typeface="Microsoft YaHei"/>
              </a:rPr>
              <a:t>实测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4114800"/>
            <a:ext cx="2286000" cy="548640"/>
          </a:xfrm>
          <a:prstGeom prst="rect">
            <a:avLst/>
          </a:prstGeom>
          <a:solidFill>
            <a:srgbClr val="F2F6FB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2648" y="4114800"/>
            <a:ext cx="2066544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50" b="1">
                <a:solidFill>
                  <a:srgbClr val="0067C5"/>
                </a:solidFill>
                <a:latin typeface="Microsoft YaHei"/>
              </a:rPr>
              <a:t>快照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88920" y="4114800"/>
            <a:ext cx="6675120" cy="548640"/>
          </a:xfrm>
          <a:prstGeom prst="rect">
            <a:avLst/>
          </a:prstGeom>
          <a:solidFill>
            <a:srgbClr val="F2F6FB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898648" y="4114800"/>
            <a:ext cx="6455664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50" b="0">
                <a:solidFill>
                  <a:srgbClr val="1A2B4A"/>
                </a:solidFill>
                <a:latin typeface="Microsoft YaHei"/>
              </a:rPr>
              <a:t>COW增量, reserve 5%, 实测快照仅占12.82MB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464040" y="4114800"/>
            <a:ext cx="2240280" cy="548640"/>
          </a:xfrm>
          <a:prstGeom prst="rect">
            <a:avLst/>
          </a:prstGeom>
          <a:solidFill>
            <a:srgbClr val="F2F6FB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573768" y="4114800"/>
            <a:ext cx="2020824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050" b="0">
                <a:solidFill>
                  <a:srgbClr val="1A2B4A"/>
                </a:solidFill>
                <a:latin typeface="Microsoft YaHei"/>
              </a:rPr>
              <a:t>实测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2920" y="4663440"/>
            <a:ext cx="22860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2648" y="4663440"/>
            <a:ext cx="2066544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50" b="1">
                <a:solidFill>
                  <a:srgbClr val="0067C5"/>
                </a:solidFill>
                <a:latin typeface="Microsoft YaHei"/>
              </a:rPr>
              <a:t>备份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88920" y="4663440"/>
            <a:ext cx="66751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898648" y="4663440"/>
            <a:ext cx="6455664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50" b="0">
                <a:solidFill>
                  <a:srgbClr val="1A2B4A"/>
                </a:solidFill>
                <a:latin typeface="Microsoft YaHei"/>
              </a:rPr>
              <a:t>AWS Backup增量+跨AZ; 与快照互补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464040" y="4663440"/>
            <a:ext cx="224028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573768" y="4663440"/>
            <a:ext cx="2020824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050" b="0">
                <a:solidFill>
                  <a:srgbClr val="1A2B4A"/>
                </a:solidFill>
                <a:latin typeface="Microsoft YaHei"/>
              </a:rPr>
              <a:t>官方文档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02920" y="5212080"/>
            <a:ext cx="2286000" cy="548640"/>
          </a:xfrm>
          <a:prstGeom prst="rect">
            <a:avLst/>
          </a:prstGeom>
          <a:solidFill>
            <a:srgbClr val="F2F6FB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12648" y="5212080"/>
            <a:ext cx="2066544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50" b="1">
                <a:solidFill>
                  <a:srgbClr val="0067C5"/>
                </a:solidFill>
                <a:latin typeface="Microsoft YaHei"/>
              </a:rPr>
              <a:t>Derby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88920" y="5212080"/>
            <a:ext cx="6675120" cy="548640"/>
          </a:xfrm>
          <a:prstGeom prst="rect">
            <a:avLst/>
          </a:prstGeom>
          <a:solidFill>
            <a:srgbClr val="F2F6FB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898648" y="5212080"/>
            <a:ext cx="6455664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50" b="0">
                <a:solidFill>
                  <a:srgbClr val="1A2B4A"/>
                </a:solidFill>
                <a:latin typeface="Microsoft YaHei"/>
              </a:rPr>
              <a:t>推荐 iSCSI; NFS 有锁风险(Derby文档警告)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464040" y="5212080"/>
            <a:ext cx="2240280" cy="548640"/>
          </a:xfrm>
          <a:prstGeom prst="rect">
            <a:avLst/>
          </a:prstGeom>
          <a:solidFill>
            <a:srgbClr val="F2F6FB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573768" y="5212080"/>
            <a:ext cx="2020824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050" b="0">
                <a:solidFill>
                  <a:srgbClr val="1A2B4A"/>
                </a:solidFill>
                <a:latin typeface="Microsoft YaHei"/>
              </a:rPr>
              <a:t>文档+分析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02920" y="5623560"/>
            <a:ext cx="11201400" cy="640080"/>
          </a:xfrm>
          <a:prstGeom prst="roundRect">
            <a:avLst/>
          </a:prstGeom>
          <a:solidFill>
            <a:srgbClr val="1A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85800" y="5623560"/>
            <a:ext cx="1088136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Microsoft YaHei"/>
              </a:rPr>
              <a:t>实测来源：Ohio us-east-2  FsxId011719cc94111ed47（ONTAP 9.17.1P7）；测试卷 ppttest 用后已清理。FSx Windows 无实例，相关部分为纯文档对比。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