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97480"/>
            <a:ext cx="12191695" cy="1828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NetApp ONTAP 存储架构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9FC4EA"/>
                </a:solidFill>
                <a:latin typeface="Microsoft YaHei"/>
              </a:rPr>
              <a:t>Disk · RAID Group · Aggregate · Volume · FabricPool 之间的关系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资料来源：NetApp 官方文档 docs.netapp.com  |  2026-06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NetApp ONTAP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整体层级：从物理到逻辑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物理磁盘逐层聚合，最终对外提供逻辑卷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7680960" cy="987552"/>
          </a:xfrm>
          <a:prstGeom prst="roundRect">
            <a:avLst/>
          </a:prstGeom>
          <a:solidFill>
            <a:srgbClr val="6B7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31520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Disk / Drive（物理磁盘）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AF2FB"/>
                </a:solidFill>
                <a:latin typeface="Microsoft YaHei"/>
              </a:rPr>
              <a:t>SSD / HDD / 分区盘，最底层物理存储单元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386584"/>
            <a:ext cx="548640" cy="3017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5A6B82"/>
                </a:solidFill>
                <a:latin typeface="Microsoft YaHe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9464"/>
            <a:ext cx="7680960" cy="987552"/>
          </a:xfrm>
          <a:prstGeom prst="roundRect">
            <a:avLst/>
          </a:prstGeom>
          <a:solidFill>
            <a:srgbClr val="2E8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9464"/>
            <a:ext cx="731520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RAID Group（RAID 组）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AF2FB"/>
                </a:solidFill>
                <a:latin typeface="Microsoft YaHei"/>
              </a:rPr>
              <a:t>若干数据盘 + 校验盘，提供数据冗余保护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538728"/>
            <a:ext cx="548640" cy="3017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5A6B82"/>
                </a:solidFill>
                <a:latin typeface="Microsoft YaHe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1608"/>
            <a:ext cx="7680960" cy="987552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21608"/>
            <a:ext cx="731520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Aggregate / Local Tier（聚合 / 本地层）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AF2FB"/>
                </a:solidFill>
                <a:latin typeface="Microsoft YaHei"/>
              </a:rPr>
              <a:t>ONTAP 核心物理存储池，由一个或多个 RAID 组构成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690872"/>
            <a:ext cx="548640" cy="3017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5A6B82"/>
                </a:solidFill>
                <a:latin typeface="Microsoft YaHe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73752"/>
            <a:ext cx="7680960" cy="987552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73752"/>
            <a:ext cx="731520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FlexVol Volume（卷）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AF2FB"/>
                </a:solidFill>
                <a:latin typeface="Microsoft YaHei"/>
              </a:rPr>
              <a:t>驻留在 Aggregate 之上的逻辑卷，承载文件系统/LUN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417320"/>
            <a:ext cx="2926080" cy="457200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00200"/>
            <a:ext cx="260604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聚合方向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自下而上：物理 → 逻辑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磁盘组成 RAID 组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RAID 组组成 Aggregate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Volume 建在 Aggregate 上</a:t>
            </a:r>
          </a:p>
          <a:p>
            <a:pPr algn="l">
              <a:spcBef>
                <a:spcPts val="16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一个 Aggregate 可承载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多个 FlexVol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一个 Volume 只属于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一个 Aggregate</a:t>
            </a:r>
          </a:p>
          <a:p>
            <a:pPr algn="l">
              <a:spcBef>
                <a:spcPts val="14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FabricPool 可为聚合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6A5ACD"/>
                </a:solidFill>
                <a:latin typeface="Microsoft YaHei"/>
              </a:rPr>
              <a:t>挂接云对象存储容量层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Disk 与 RAID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磁盘是物理单元，RAID 组提供冗余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Disk / Drive（磁盘）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ONTAP 管理的最底层物理存储单元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类型：SSD、SAS/HDD、容量盘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可被「分区」共享给多个 RAID 组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（Position 显示 shared）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磁盘角色（Position）：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    data   —  数据盘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    parity —  行校验盘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    dparity — 对角校验盘（RAID-DP）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未分配磁盘 = spare（热备盘）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0B5CAB"/>
                </a:solidFill>
                <a:latin typeface="Microsoft YaHei"/>
              </a:rPr>
              <a:t>• 命令：storage disk show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0067C5"/>
                </a:solidFill>
                <a:latin typeface="Microsoft YaHei"/>
              </a:rPr>
              <a:t>RAID Group（RAID 组，以 RAID-DP 为例）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286000"/>
            <a:ext cx="713232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71323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286000"/>
            <a:ext cx="713232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286000"/>
            <a:ext cx="71323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286000"/>
            <a:ext cx="713232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71323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286000"/>
            <a:ext cx="713232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286000"/>
            <a:ext cx="71323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286000"/>
            <a:ext cx="713232" cy="91440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286000"/>
            <a:ext cx="71323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52760" y="2286000"/>
            <a:ext cx="713232" cy="91440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60" y="2286000"/>
            <a:ext cx="71323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29184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D = 数据盘    P = 校验盘    dP = 双校验盘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484632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RAID 组 = 一组数据盘 + 校验盘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常见类型：RAID-DP（双校验，默认）、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RAID-TEC（三校验）、RAID4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校验盘提供磁盘故障时的数据重建能力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RAID-DP 可同时容忍 2 块盘故障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多个 RAID 组组成一个 Aggregate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0B5CAB"/>
                </a:solidFill>
                <a:latin typeface="Microsoft YaHei"/>
              </a:rPr>
              <a:t>• 命令：storage aggregate show-status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Aggregate（聚合 / 本地层）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ONTAP 核心物理存储池，由多个 RAID 组构成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Aggregate 关键概念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ONTAP 核心物理存储池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由一个或多个 RAID 组聚合而成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• 9.7 之前 System Manager 称「本地层」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CLI 始终称 aggregate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是创建 FlexVol 卷的基础容器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一个 Aggregate 可承载多个 FlexVol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可按性能需求隔离工作负载：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全 SSD 聚合 → 低延迟高性能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HDD/容量盘聚合 → 归档冷数据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6A5ACD"/>
                </a:solidFill>
                <a:latin typeface="Microsoft YaHei"/>
              </a:rPr>
              <a:t>• 通过 FabricPool 可挂接云容量层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0B5CAB"/>
                </a:solidFill>
                <a:latin typeface="Microsoft YaHei"/>
              </a:rPr>
              <a:t>• 命令：storage aggregate show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5440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Aggregate 结构示意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74519"/>
            <a:ext cx="4754880" cy="4206240"/>
          </a:xfrm>
          <a:prstGeom prst="roundRect">
            <a:avLst/>
          </a:prstGeom>
          <a:solidFill>
            <a:srgbClr val="E8F1FB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38528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Aggregate (aggr1)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377440"/>
            <a:ext cx="4297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450592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RAID Group rg0 (RAID-DP)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926080"/>
            <a:ext cx="6400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92608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2926080"/>
            <a:ext cx="6400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292608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21624" y="2926080"/>
            <a:ext cx="6400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92608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2926080"/>
            <a:ext cx="640080" cy="86868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92608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39528" y="2926080"/>
            <a:ext cx="640080" cy="86868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92608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160520"/>
            <a:ext cx="4297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33672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RAID Group rg1 (RAID-DP)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709160"/>
            <a:ext cx="6400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70916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62672" y="4709160"/>
            <a:ext cx="6400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470916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21624" y="4709160"/>
            <a:ext cx="6400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470916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0576" y="4709160"/>
            <a:ext cx="640080" cy="86868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470916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9528" y="4709160"/>
            <a:ext cx="640080" cy="86868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470916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Volume（FlexVol 卷）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驻留在 Aggregate 之上的逻辑存储容器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FlexVol 卷的特性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逻辑存储容器，承载文件系统 / LUN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必须建立在某一个 Aggregate 之上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一个 Aggregate 可放多个 FlexVol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• 一个 Volume 只属于一个 Aggregate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可在线扩容/缩容，与物理盘解耦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支持精简配置（Thin Provisioning）：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 创建时不预留空间，按需占用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 可超额配置（overcommit）聚合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通过 SVM（Vserver）对外提供 NFS/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CIFS/iSCSI/FC 访问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0B5CAB"/>
                </a:solidFill>
                <a:latin typeface="Microsoft YaHei"/>
              </a:rPr>
              <a:t>• 命令：volume show / volume create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1663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1732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一个 Aggregate 承载多个卷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965960"/>
            <a:ext cx="4434840" cy="713232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44348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FlexVol: vol_nfs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834640"/>
            <a:ext cx="4434840" cy="713232"/>
          </a:xfrm>
          <a:prstGeom prst="roundRect">
            <a:avLst/>
          </a:prstGeom>
          <a:solidFill>
            <a:srgbClr val="2E8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834640"/>
            <a:ext cx="44348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FlexVol: vol_cifs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703320"/>
            <a:ext cx="4434840" cy="713232"/>
          </a:xfrm>
          <a:prstGeom prst="roundRect">
            <a:avLst/>
          </a:prstGeom>
          <a:solidFill>
            <a:srgbClr val="5A5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03320"/>
            <a:ext cx="44348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FlexVol: vol_lun (SAN)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72000"/>
            <a:ext cx="4434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5A6B82"/>
                </a:solidFill>
                <a:latin typeface="Microsoft YaHei"/>
              </a:rPr>
              <a:t>▲ 逻辑层  |  ▼ 物理层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937760"/>
            <a:ext cx="4434840" cy="109728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937760"/>
            <a:ext cx="443484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Aggregate（聚合物理池）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CFE3F7"/>
                </a:solidFill>
                <a:latin typeface="Microsoft YaHei"/>
              </a:rPr>
              <a:t>RAID Group → Disk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FabricPool（自动分层）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热数据留本地 SSD，冷数据自动下沉到云对象存储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FabricPool 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ONTAP 自动分层特性，按访问频率在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高性能本地层与云容量层间移动数据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热数据（hot）留在本地 SSD 性能层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6A5ACD"/>
                </a:solidFill>
                <a:latin typeface="Microsoft YaHei"/>
              </a:rPr>
              <a:t>• 冷数据（cold）自动下沉到云对象存储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工作在存储块级别，文件和 LUN 均支持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应用无感知，分层全自动，无需运维干预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云容量层可选：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AWS S3 / Azure Blob / GCP / 阿里云等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或 NetApp StorageGRID（私有云）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• 释放昂贵本地容量，构建混合云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0B5CAB"/>
                </a:solidFill>
                <a:latin typeface="Microsoft YaHei"/>
              </a:rPr>
              <a:t>• 命令：storage aggregate object-store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5440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FabricPool 分层示意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65960"/>
            <a:ext cx="4617720" cy="1417320"/>
          </a:xfrm>
          <a:prstGeom prst="roundRect">
            <a:avLst/>
          </a:prstGeom>
          <a:solidFill>
            <a:srgbClr val="E3F3E9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E9E5B"/>
                </a:solidFill>
                <a:latin typeface="Microsoft YaHei"/>
              </a:rPr>
              <a:t>性能层 Performance Tier（本地 SSD Aggregate）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514600"/>
            <a:ext cx="868680" cy="7315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51460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热数据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2514600"/>
            <a:ext cx="868680" cy="7315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251460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热数据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14816" y="2514600"/>
            <a:ext cx="868680" cy="7315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51460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热数据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38944" y="2514600"/>
            <a:ext cx="868680" cy="7315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251460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热数据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56432"/>
            <a:ext cx="4617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58220"/>
                </a:solidFill>
                <a:latin typeface="Microsoft YaHei"/>
              </a:rPr>
              <a:t>⇅  自动分层（基于访问温度，块级别）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977639"/>
            <a:ext cx="4617720" cy="1828800"/>
          </a:xfrm>
          <a:prstGeom prst="roundRect">
            <a:avLst/>
          </a:prstGeom>
          <a:solidFill>
            <a:srgbClr val="ECE9FA"/>
          </a:solidFill>
          <a:ln w="19050">
            <a:solidFill>
              <a:srgbClr val="6A5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06908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6A5ACD"/>
                </a:solidFill>
                <a:latin typeface="Microsoft YaHei"/>
              </a:rPr>
              <a:t>容量层 Capacity Tier（云对象存储 / StorageGRID）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526280"/>
            <a:ext cx="868680" cy="73152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52628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冷数据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0688" y="4526280"/>
            <a:ext cx="868680" cy="73152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452628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冷数据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14816" y="4526280"/>
            <a:ext cx="868680" cy="73152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14816" y="452628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冷数据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38944" y="4526280"/>
            <a:ext cx="868680" cy="73152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38944" y="4526280"/>
            <a:ext cx="8686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冷数据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4924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5A6B82"/>
                </a:solidFill>
                <a:latin typeface="Microsoft YaHei"/>
              </a:rPr>
              <a:t>S3 / Blob / GCP / 阿里云 OSS / StorageGRID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层级关系总结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概念 · 组成 · 常用 CLI 命令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920240" cy="74980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7373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层级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325880"/>
            <a:ext cx="3017520" cy="74980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325880"/>
            <a:ext cx="28346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325880"/>
            <a:ext cx="3291840" cy="74980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325880"/>
            <a:ext cx="31089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由什么组成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325880"/>
            <a:ext cx="3108960" cy="74980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325880"/>
            <a:ext cx="29260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查看命令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92024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75688"/>
            <a:ext cx="17373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Disk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075688"/>
            <a:ext cx="301752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2075688"/>
            <a:ext cx="28346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物理磁盘 (SSD/HDD)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075688"/>
            <a:ext cx="329184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075688"/>
            <a:ext cx="31089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—（最底层）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075688"/>
            <a:ext cx="310896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075688"/>
            <a:ext cx="29260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storage disk show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25496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25496"/>
            <a:ext cx="17373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RAID Group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825496"/>
            <a:ext cx="3017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2825496"/>
            <a:ext cx="28346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冗余保护单元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825496"/>
            <a:ext cx="3291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2825496"/>
            <a:ext cx="31089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数据盘 + 校验盘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825496"/>
            <a:ext cx="3108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825496"/>
            <a:ext cx="29260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storage aggregate
show-status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75304"/>
            <a:ext cx="192024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575304"/>
            <a:ext cx="17373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Aggregate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3575304"/>
            <a:ext cx="301752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575304"/>
            <a:ext cx="28346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物理存储池/本地层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3575304"/>
            <a:ext cx="329184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3575304"/>
            <a:ext cx="31089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1+ 个 RAID Group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3575304"/>
            <a:ext cx="310896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3575304"/>
            <a:ext cx="29260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storage aggregate show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25112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25112"/>
            <a:ext cx="17373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Volume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4325112"/>
            <a:ext cx="3017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4325112"/>
            <a:ext cx="28346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逻辑卷 (FlexVol)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325112"/>
            <a:ext cx="3291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4325112"/>
            <a:ext cx="31089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驻留于 1 个 Aggregate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4325112"/>
            <a:ext cx="3108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4325112"/>
            <a:ext cx="29260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volume show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74920"/>
            <a:ext cx="192024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20"/>
            <a:ext cx="17373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FabricPool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5074920"/>
            <a:ext cx="301752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0" y="5074920"/>
            <a:ext cx="28346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聚合的自动分层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5074920"/>
            <a:ext cx="329184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5074920"/>
            <a:ext cx="31089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本地 SSD 层 + 云对象层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5074920"/>
            <a:ext cx="3108960" cy="74980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9680" y="5074920"/>
            <a:ext cx="29260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storage aggregate
object-store show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一句话关系：磁盘 → 组成 RAID 组 → 组成 Aggregate → 之上创建 Volume → 经 SVM 对外提供访问；FabricPool 为聚合挂接云对象存储，自动冷热分层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