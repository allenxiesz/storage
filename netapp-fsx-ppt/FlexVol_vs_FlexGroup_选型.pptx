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97480"/>
            <a:ext cx="12191695" cy="18288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FlexVol vs FlexGroup 选型指南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9FC4EA"/>
                </a:solidFill>
                <a:latin typeface="Microsoft YaHei"/>
              </a:rPr>
              <a:t>什么时候选 FlexVol，什么时候选 FlexGroup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资料来源：AWS FSx for ONTAP Guide + NetApp 官方文档  |  2026-06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NetApp ONTAP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本质区别：单卷 vs 多卷聚合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FlexGroup = 多个 FlexVol 成员卷组成的单一命名空间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75488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006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FlexVol（单卷）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468880"/>
            <a:ext cx="2468880" cy="137160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246888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FlexVol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CFE3F7"/>
                </a:solidFill>
                <a:latin typeface="Microsoft YaHei"/>
              </a:rPr>
              <a:t>1 个卷 / 1 个 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6634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ONTAP 最基础的柔性卷单元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驻留在单个 aggregate 上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容量受单卷/单节点限制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管理最简单，是单 HA pair 默认风格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57800" cy="4754880"/>
          </a:xfrm>
          <a:prstGeom prst="roundRect">
            <a:avLst/>
          </a:prstGeom>
          <a:solidFill>
            <a:srgbClr val="E3F3E9"/>
          </a:solidFill>
          <a:ln w="1524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Microsoft YaHei"/>
              </a:rPr>
              <a:t>FlexGroup（多卷聚合）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194560"/>
            <a:ext cx="46177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24028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FlexGroup（单一命名空间）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697480"/>
            <a:ext cx="914400" cy="10058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697480"/>
            <a:ext cx="9144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成员
FlexVol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1272" y="2697480"/>
            <a:ext cx="914400" cy="10058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2697480"/>
            <a:ext cx="9144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成员
FlexVol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697480"/>
            <a:ext cx="914400" cy="10058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0264" y="2697480"/>
            <a:ext cx="9144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成员
FlexVol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49256" y="2697480"/>
            <a:ext cx="914400" cy="10058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9256" y="2697480"/>
            <a:ext cx="91440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成员
FlexVol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46634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多个成员卷(constituent)组成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文件级自动、透明分布到各成员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横向扩展，用整个集群资源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对用户是一个超大卷，是多 HA pair 默认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什么时候选 FlexVol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简单、单卷场景，或需要 FlexGroup 不支持的功能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4937760"/>
          </a:xfrm>
          <a:prstGeom prst="round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067C5"/>
                </a:solidFill>
                <a:latin typeface="Microsoft YaHei"/>
              </a:rPr>
              <a:t>✅ 推荐用 FlexVol 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  <a:latin typeface="Microsoft YaHei"/>
              </a:rPr>
              <a:t>• 单 HA pair 文件系统、容量需求在单卷上限内（FSx 上限 ≈ 300 TiB）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通用文件共享、常规工作负载，追求最简单的管理体验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单一应用/单一数据集，不需要跨多节点横向扩展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F58220"/>
                </a:solidFill>
                <a:latin typeface="Microsoft YaHei"/>
              </a:rPr>
              <a:t>• 需要 FlexGroup 尚不支持的特定功能，例如：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   - SnapLock 的 Legal-hold（法务保留）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   - SnapLock 的 Event-based retention（基于事件的保留）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   - 在 member 级别配置某些特性（FlexGroup 只能在卷级配 SnapLock）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需要把卷做 SAN / iSCSI LUN 等以块为主的用法（FlexVol 更直接）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2E9E5B"/>
                </a:solidFill>
                <a:latin typeface="Microsoft YaHei"/>
              </a:rPr>
              <a:t>• FSx 一代文件系统、二代单 HA pair —— FlexVol 是默认风格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什么时候选 FlexGroup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海量文件、大命名空间、高吞吐 scale-out 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4937760"/>
          </a:xfrm>
          <a:prstGeom prst="roundRect">
            <a:avLst/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Microsoft YaHei"/>
              </a:rPr>
              <a:t>✅ 推荐用 FlexGroup 的场景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  <a:latin typeface="Microsoft YaHei"/>
              </a:rPr>
              <a:t>• 超大单一命名空间：单卷超过 FlexVol 上限，需 PB 级容量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   FSx 上限 20 PiB；NetApp 开启大卷支持后可达 60 PB / 4000 亿文件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2E9E5B"/>
                </a:solidFill>
                <a:latin typeface="Microsoft YaHei"/>
              </a:rPr>
              <a:t>• 海量小文件、超高文件数（每 constituent 可存约 20 亿文件）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高吞吐 / 低延迟，需要利用整个集群（多节点）的资源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工作负载天然可并行：大量客户端并发访问、流式写入、分析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希望负载自动均衡，无需手动把数据分到多个卷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1A2B4A"/>
                </a:solidFill>
                <a:latin typeface="Microsoft YaHei"/>
              </a:rPr>
              <a:t>• 典型用例：媒体渲染、EDA、AI/ML 数据集、日志、备份归档、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A6B82"/>
                </a:solidFill>
                <a:latin typeface="Microsoft YaHei"/>
              </a:rPr>
              <a:t>      软件构建、电子设计、基因测序等大规模 NAS</a:t>
            </a:r>
          </a:p>
          <a:p>
            <a:pPr algn="l">
              <a:spcBef>
                <a:spcPts val="1000"/>
              </a:spcBef>
            </a:pPr>
            <a:r>
              <a:rPr sz="1500" b="1">
                <a:solidFill>
                  <a:srgbClr val="0067C5"/>
                </a:solidFill>
                <a:latin typeface="Microsoft YaHei"/>
              </a:rPr>
              <a:t>• FSx 二代多 HA pair 文件系统 —— FlexGroup 是默认风格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关键参数对比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数据来自 AWS FSx ONTAP + NetApp 官方文档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377440" cy="585216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80160"/>
            <a:ext cx="4160520" cy="585216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80160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FlexVol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280160"/>
            <a:ext cx="4389120" cy="585216"/>
          </a:xfrm>
          <a:prstGeom prst="rect">
            <a:avLst/>
          </a:prstGeom>
          <a:solidFill>
            <a:srgbClr val="0067C5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1280160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FlexGroup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65376"/>
            <a:ext cx="237744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865376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结构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865376"/>
            <a:ext cx="41605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1865376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单个卷 / 单 aggregate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865376"/>
            <a:ext cx="43891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1865376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多个成员卷(constituent)，可跨节点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450592"/>
            <a:ext cx="23774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450592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容量上限(FSx)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450592"/>
            <a:ext cx="41605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2450592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≈ 300 TiB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450592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2450592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20 PiB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35808"/>
            <a:ext cx="237744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035808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文件数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035808"/>
            <a:ext cx="41605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3035808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受单卷限制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035808"/>
            <a:ext cx="43891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035808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约 20 亿/constituent，可达千亿级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621024"/>
            <a:ext cx="23774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621024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性能扩展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621024"/>
            <a:ext cx="41605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3621024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单卷/单节点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3621024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7768" y="3621024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横向扩展，用整集群资源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206240"/>
            <a:ext cx="237744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206240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负载分布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206240"/>
            <a:ext cx="41605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4206240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无自动分摊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4206240"/>
            <a:ext cx="43891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87768" y="4206240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文件级自动、透明分布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791456"/>
            <a:ext cx="23774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4791456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FSx 默认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4791456"/>
            <a:ext cx="41605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8" y="4791456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一代 / 单 HA pair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4791456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7768" y="4791456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二代多 HA pair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376672"/>
            <a:ext cx="237744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5376672"/>
            <a:ext cx="215798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适用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5376672"/>
            <a:ext cx="41605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27248" y="5376672"/>
            <a:ext cx="39410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1A2B4A"/>
                </a:solidFill>
                <a:latin typeface="Microsoft YaHei"/>
              </a:rPr>
              <a:t>通用、简单、小规模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5376672"/>
            <a:ext cx="4389120" cy="585216"/>
          </a:xfrm>
          <a:prstGeom prst="rect">
            <a:avLst/>
          </a:prstGeom>
          <a:solidFill>
            <a:srgbClr val="F2F6FB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87768" y="5376672"/>
            <a:ext cx="4169664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>
                <a:solidFill>
                  <a:srgbClr val="2E9E5B"/>
                </a:solidFill>
                <a:latin typeface="Microsoft YaHei"/>
              </a:rPr>
              <a:t>海量文件、高并发、PB 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Microsoft YaHei"/>
              </a:rPr>
              <a:t>注：FlexGroup constituent 计入 FSx 卷配额（每 HA pair 500、全系统 1000）；默认每 HA pair 8 个 constituent。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FlexVol → FlexGroup 转换建议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AWS 官方推荐：用 DataSync 迁移，而非 CLI 直接转换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49240" cy="4754880"/>
          </a:xfrm>
          <a:prstGeom prst="roundRect">
            <a:avLst/>
          </a:prstGeom>
          <a:solidFill>
            <a:srgbClr val="E3F3E9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2E9E5B"/>
                </a:solidFill>
                <a:latin typeface="Microsoft YaHei"/>
              </a:rPr>
              <a:t>✅ 推荐：AWS DataSync 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官方原文：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"we recommend that you use AWS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DataSync to move data between a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FlexVol volume and a new FlexGroup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volume to ensure that the data is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evenly distributed across the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5A6B82"/>
                </a:solidFill>
                <a:latin typeface="Microsoft YaHei"/>
              </a:rPr>
              <a:t>FlexGroup's constituents."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新建 FlexGroup，用 DataSync 把数据迁过去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2E9E5B"/>
                </a:solidFill>
                <a:latin typeface="Microsoft YaHei"/>
              </a:rPr>
              <a:t>• 数据能均匀分布到各 constituent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• 充分发挥 FlexGroup 的并行性能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440680" cy="4754880"/>
          </a:xfrm>
          <a:prstGeom prst="roundRect">
            <a:avLst/>
          </a:prstGeom>
          <a:solidFill>
            <a:srgbClr val="FFF6EA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Microsoft YaHei"/>
              </a:rPr>
              <a:t>⚠ 谨慎：ONTAP CLI 直接转换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93776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Microsoft YaHei"/>
              </a:rPr>
              <a:t>• CLI 转换只生成「单 constituent」的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FlexGroup（没真正发挥横向分布）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D03B3B"/>
                </a:solidFill>
                <a:latin typeface="Microsoft YaHei"/>
              </a:rPr>
              <a:t>• 转换不会自动 rebalance →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2B4A"/>
                </a:solidFill>
                <a:latin typeface="Microsoft YaHei"/>
              </a:rPr>
              <a:t>   数据会倾斜集中在原成员上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F58220"/>
                </a:solidFill>
                <a:latin typeface="Microsoft YaHei"/>
              </a:rPr>
              <a:t>• 转换前必须先删除 FlexVol 的所有备份</a:t>
            </a:r>
          </a:p>
          <a:p>
            <a:pPr algn="l">
              <a:spcBef>
                <a:spcPts val="200"/>
              </a:spcBef>
            </a:pPr>
            <a:r>
              <a:rPr sz="600" b="0">
                <a:solidFill>
                  <a:srgbClr val="1A2B4A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1A2B4A"/>
                </a:solidFill>
                <a:latin typeface="Microsoft YaHei"/>
              </a:rPr>
              <a:t>官方 Note 原文：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"ONTAP doesn't automatically rebalance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data as part of the conversion, so the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data might be imbalanced across the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5A6B82"/>
                </a:solidFill>
                <a:latin typeface="Microsoft YaHei"/>
              </a:rPr>
              <a:t>FlexGroup constituents."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Microsoft YaHei"/>
              </a:rPr>
              <a:t>来源：AWS FSx for ONTAP Guide — Managing volumes / Volume styles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9728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一句话决策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5A6B82"/>
                </a:solidFill>
                <a:latin typeface="Microsoft YaHei"/>
              </a:rPr>
              <a:t>怎么选，看这里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15600" cy="137160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1005840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选 FlexVol：单卷够用、追求简单、或需要 FlexGroup 不支持的功能（如 SnapLock legal-hold / event-based retention）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10515600" cy="13716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选 FlexGroup：海量文件 / 超大命名空间(PB 级) / 高吞吐 / 需要跨节点 scale-out 与自动负载均衡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10515600" cy="1188720"/>
          </a:xfrm>
          <a:prstGeom prst="roundRect">
            <a:avLst/>
          </a:prstGeom>
          <a:solidFill>
            <a:srgbClr val="F2F6FB"/>
          </a:solidFill>
          <a:ln w="1524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05840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B5CAB"/>
                </a:solidFill>
                <a:latin typeface="Microsoft YaHei"/>
              </a:rPr>
              <a:t>迁移：FlexVol → FlexGroup 用 AWS DataSync 迁到新卷（数据均匀分布）；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0B5CAB"/>
                </a:solidFill>
                <a:latin typeface="Microsoft YaHei"/>
              </a:rPr>
              <a:t>不推荐 CLI 直接转换（不 rebalance、数据倾斜、需先删备份）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