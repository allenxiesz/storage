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97480"/>
            <a:ext cx="12191695" cy="18288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YaHei"/>
              </a:rPr>
              <a:t>NetApp ONTAP Snapshot 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9FC4EA"/>
                </a:solidFill>
                <a:latin typeface="Microsoft YaHei"/>
              </a:rPr>
              <a:t>WAFL 重定向写入（Redirect-on-Write）原理详解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资料来源：NetApp 官方文档 docs.netapp.com  |  2026-06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0080"/>
            <a:ext cx="2011680" cy="5029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0080"/>
            <a:ext cx="2011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NetApp ONTAP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Snapshot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卷的只读时间点镜像，基于 WAFL 元数据指针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48640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0067C5"/>
                </a:solidFill>
                <a:latin typeface="Microsoft YaHei"/>
              </a:rPr>
              <a:t>核心定义（官方）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93776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Microsoft YaHei"/>
              </a:rPr>
              <a:t>• Snapshot = 卷的只读、时间点镜像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(read-only, point-in-time image)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创建后，活动文件系统与 Snapshot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   指向相同的磁盘块 → 几乎不占空间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只记录自上次快照以来的变化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(空间随时间缓慢增长)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2E9E5B"/>
                </a:solidFill>
                <a:latin typeface="Microsoft YaHei"/>
              </a:rPr>
              <a:t>• 创建快照只「操纵块指针」，不复制数据块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(manipulates block pointers — DS-2477)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可恢复单个文件/LUN 或整卷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由 Snapshot policy 定义创建/保留规则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0B5CAB"/>
                </a:solidFill>
                <a:latin typeface="Microsoft YaHei"/>
              </a:rPr>
              <a:t>• 命令：volume snapshot create / show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25880"/>
            <a:ext cx="51663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417320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067C5"/>
                </a:solidFill>
                <a:latin typeface="Microsoft YaHei"/>
              </a:rPr>
              <a:t>创建瞬间：两者共享同一批数据块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011680"/>
            <a:ext cx="1828800" cy="640080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011680"/>
            <a:ext cx="18288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活动文件系统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011680"/>
            <a:ext cx="1828800" cy="6400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011680"/>
            <a:ext cx="18288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Snapshot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4206240"/>
            <a:ext cx="868680" cy="822960"/>
          </a:xfrm>
          <a:prstGeom prst="round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4206240"/>
            <a:ext cx="8686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206240"/>
            <a:ext cx="868680" cy="822960"/>
          </a:xfrm>
          <a:prstGeom prst="round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4206240"/>
            <a:ext cx="8686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206240"/>
            <a:ext cx="868680" cy="822960"/>
          </a:xfrm>
          <a:prstGeom prst="round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4206240"/>
            <a:ext cx="8686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4206240"/>
            <a:ext cx="868680" cy="822960"/>
          </a:xfrm>
          <a:prstGeom prst="round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4206240"/>
            <a:ext cx="8686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166360"/>
            <a:ext cx="4114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5A6B82"/>
                </a:solidFill>
                <a:latin typeface="Microsoft YaHei"/>
              </a:rPr>
              <a:t>磁盘数据块（共享，0 额外占用）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697480"/>
            <a:ext cx="146304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600" b="1">
                <a:solidFill>
                  <a:srgbClr val="0067C5"/>
                </a:solidFill>
                <a:latin typeface="Microsoft YaHei"/>
              </a:rPr>
              <a:t>↓</a:t>
            </a:r>
          </a:p>
          <a:p>
            <a:pPr algn="ctr">
              <a:spcBef>
                <a:spcPts val="0"/>
              </a:spcBef>
            </a:pPr>
            <a:r>
              <a:rPr sz="2600" b="1">
                <a:solidFill>
                  <a:srgbClr val="0067C5"/>
                </a:solidFill>
                <a:latin typeface="Microsoft YaHei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697480"/>
            <a:ext cx="146304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600" b="1">
                <a:solidFill>
                  <a:srgbClr val="2E9E5B"/>
                </a:solidFill>
                <a:latin typeface="Microsoft YaHei"/>
              </a:rPr>
              <a:t>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COW vs ROW：两种快照实现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理解 NetApp 属于哪一种的前提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4846320"/>
          </a:xfrm>
          <a:prstGeom prst="roundRect">
            <a:avLst/>
          </a:prstGeom>
          <a:solidFill>
            <a:srgbClr val="FFF5EC"/>
          </a:solidFill>
          <a:ln w="1905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F58220"/>
                </a:solidFill>
                <a:latin typeface="Microsoft YaHei"/>
              </a:rPr>
              <a:t>Copy-on-Write (COW)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46320" cy="4023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Microsoft YaHei"/>
              </a:rPr>
              <a:t>覆盖前先「复制旧块」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写入修改时：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   1) 先把原数据块复制到快照预留区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   2) 再把新数据写回原位置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D03B3B"/>
                </a:solidFill>
                <a:latin typeface="Microsoft YaHei"/>
              </a:rPr>
              <a:t>• 每次首改 = 1 次读 + 2 次写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(读旧块 → 写到快照区 → 写新数据)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D03B3B"/>
                </a:solidFill>
                <a:latin typeface="Microsoft YaHei"/>
              </a:rPr>
              <a:t>• 写放大明显，性能开销较大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• 典型代表：传统 LVM 快照、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   多数阵列的快照实现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49240" cy="4846320"/>
          </a:xfrm>
          <a:prstGeom prst="roundRect">
            <a:avLst/>
          </a:prstGeom>
          <a:solidFill>
            <a:srgbClr val="E3F3E9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2E9E5B"/>
                </a:solidFill>
                <a:latin typeface="Microsoft YaHei"/>
              </a:rPr>
              <a:t>Redirect-on-Write (ROW)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846320" cy="4023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Microsoft YaHei"/>
              </a:rPr>
              <a:t>新数据「重定向」到新块，旧块不动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写入修改时：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   1) 新数据直接写到一个全新的空闲块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   2) 只更新元数据指针指向新块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   3) 旧块保持不变，归 Snapshot 引用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2E9E5B"/>
                </a:solidFill>
                <a:latin typeface="Microsoft YaHei"/>
              </a:rPr>
              <a:t>• 每次首改 = 仅 1 次写（写新块）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旧块零拷贝，无需先搬走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2E9E5B"/>
                </a:solidFill>
                <a:latin typeface="Microsoft YaHei"/>
              </a:rPr>
              <a:t>• 写放大小，性能开销低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067C5"/>
                </a:solidFill>
                <a:latin typeface="Microsoft YaHei"/>
              </a:rPr>
              <a:t>• 典型代表：NetApp WAFL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NetApp ONTAP 用的是 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WAFL「从不覆盖原块」，写新块 + 改指针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10927080" cy="1051560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60704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NetApp 官方博客原文：With the Redirect on Write approach, the system only redirects the writes of changed data to NEW storage blocks and updates the pointers of the active file system.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CFE3F7"/>
                </a:solidFill>
                <a:latin typeface="Microsoft YaHei"/>
              </a:rPr>
              <a:t>→ NetApp 官方直接用 “Redirect on Write” 描述 Snapshot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3520440" cy="356616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3154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① 初始状态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03020" y="4023360"/>
            <a:ext cx="658368" cy="731520"/>
          </a:xfrm>
          <a:prstGeom prst="round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3020" y="4023360"/>
            <a:ext cx="65836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1116" y="4023360"/>
            <a:ext cx="658368" cy="731520"/>
          </a:xfrm>
          <a:prstGeom prst="round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71116" y="4023360"/>
            <a:ext cx="65836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9212" y="4023360"/>
            <a:ext cx="658368" cy="731520"/>
          </a:xfrm>
          <a:prstGeom prst="round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9212" y="4023360"/>
            <a:ext cx="65836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31546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活动FS 与 Snapshot 都指向 A B 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560320"/>
            <a:ext cx="3520440" cy="356616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697480"/>
            <a:ext cx="3154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② 修改块 B → B'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22292" y="4023360"/>
            <a:ext cx="658368" cy="731520"/>
          </a:xfrm>
          <a:prstGeom prst="round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2292" y="4023360"/>
            <a:ext cx="65836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0388" y="4023360"/>
            <a:ext cx="658368" cy="7315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0388" y="4023360"/>
            <a:ext cx="65836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8484" y="4023360"/>
            <a:ext cx="658368" cy="731520"/>
          </a:xfrm>
          <a:prstGeom prst="round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8484" y="4023360"/>
            <a:ext cx="65836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26580" y="4023360"/>
            <a:ext cx="658368" cy="731520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6580" y="4023360"/>
            <a:ext cx="65836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B'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937760"/>
            <a:ext cx="31546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新数据 B' 写入全新空闲块，B 原地不动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063240"/>
            <a:ext cx="3154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橙块=新写入  绿块=被快照引用的旧块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2560320"/>
            <a:ext cx="3520440" cy="356616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697480"/>
            <a:ext cx="3154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③ 改指针完成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5612" y="4023360"/>
            <a:ext cx="658368" cy="731520"/>
          </a:xfrm>
          <a:prstGeom prst="round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5612" y="4023360"/>
            <a:ext cx="65836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3708" y="4023360"/>
            <a:ext cx="658368" cy="7315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3708" y="4023360"/>
            <a:ext cx="65836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61804" y="4023360"/>
            <a:ext cx="658368" cy="731520"/>
          </a:xfrm>
          <a:prstGeom prst="round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61804" y="4023360"/>
            <a:ext cx="65836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29900" y="4023360"/>
            <a:ext cx="658368" cy="731520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29900" y="4023360"/>
            <a:ext cx="65836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B'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937760"/>
            <a:ext cx="31546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活动FS→A B' C ; Snapshot 仍→A B 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063240"/>
            <a:ext cx="3154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橙块=新写入  绿块=被快照引用的旧块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355080"/>
            <a:ext cx="10927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来源：NetApp 官方博客《Snapshot Copies: When to Use Them…》 + NetApp 数据表 DS-2477《NetApp snapshots: A data protection differentiator》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ROW 带来的优势与术语澄清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为什么 NetApp 快照高效、近乎零开销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48640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0067C5"/>
                </a:solidFill>
                <a:latin typeface="Microsoft YaHei"/>
              </a:rPr>
              <a:t>ROW 的优势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93776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E9E5B"/>
                </a:solidFill>
                <a:latin typeface="Microsoft YaHei"/>
              </a:rPr>
              <a:t>• 创建瞬间完成，只引用 metadata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不复制数据块 → 无 seek、无复制成本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首次写无 COW 那样的「读+双写」放大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快照对生产性能影响可忽略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可保留大量快照（默认上限高）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恢复快：对比指针即可重建对象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是 SnapMirror / SnapVault /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   FlexClone 等技术的基础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25880"/>
            <a:ext cx="5166360" cy="4937760"/>
          </a:xfrm>
          <a:prstGeom prst="roundRect">
            <a:avLst/>
          </a:prstGeom>
          <a:solidFill>
            <a:srgbClr val="FFF6EA"/>
          </a:solidFill>
          <a:ln w="1905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F58220"/>
                </a:solidFill>
                <a:latin typeface="Microsoft YaHei"/>
              </a:rPr>
              <a:t>⚠ 术语澄清（常见混淆）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466344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有些资料（含 Wikipedia 信息框）把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WAFL 快照笼统标为「Copy-on-Write」。</a:t>
            </a:r>
          </a:p>
          <a:p>
            <a:pPr algn="l">
              <a:spcBef>
                <a:spcPts val="200"/>
              </a:spcBef>
            </a:pPr>
            <a:r>
              <a:rPr sz="600" b="0">
                <a:solidFill>
                  <a:srgbClr val="1A2B4A"/>
                </a:solidFill>
                <a:latin typeface="Microsoft YaHe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D03B3B"/>
                </a:solidFill>
                <a:latin typeface="Microsoft YaHei"/>
              </a:rPr>
              <a:t>这是宽泛的术语用法 ——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指「写时不动原数据、保留旧版本」的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广义思想，并非经典 COW 的「先拷贝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旧块再覆盖」实现。</a:t>
            </a:r>
          </a:p>
          <a:p>
            <a:pPr algn="l">
              <a:spcBef>
                <a:spcPts val="200"/>
              </a:spcBef>
            </a:pPr>
            <a:r>
              <a:rPr sz="600" b="0">
                <a:solidFill>
                  <a:srgbClr val="1A2B4A"/>
                </a:solidFill>
                <a:latin typeface="Microsoft YaHe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1A2B4A"/>
                </a:solidFill>
                <a:latin typeface="Microsoft YaHei"/>
              </a:rPr>
              <a:t>按机制严格区分：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WAFL/Snapshot = 写新块 + 改指针 = ROW ✓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NetApp 官方博客也明确称其为</a:t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0067C5"/>
                </a:solidFill>
                <a:latin typeface="Microsoft YaHei"/>
              </a:rPr>
              <a:t>「Redirect on Write」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总结对比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COW vs ROW vs NetApp WAFL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2377440" cy="713232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71600"/>
            <a:ext cx="215798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371600"/>
            <a:ext cx="4343400" cy="713232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371600"/>
            <a:ext cx="412394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Copy-on-Write (COW)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371600"/>
            <a:ext cx="4206240" cy="713232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371600"/>
            <a:ext cx="398678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Redirect-on-Write (ROW)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84832"/>
            <a:ext cx="2377440" cy="713232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084832"/>
            <a:ext cx="215798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67C5"/>
                </a:solidFill>
                <a:latin typeface="Microsoft YaHei"/>
              </a:rPr>
              <a:t>写入流程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084832"/>
            <a:ext cx="4343400" cy="713232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084832"/>
            <a:ext cx="412394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1A2B4A"/>
                </a:solidFill>
                <a:latin typeface="Microsoft YaHei"/>
              </a:rPr>
              <a:t>读旧块→拷到快照区→写新数据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084832"/>
            <a:ext cx="4206240" cy="713232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0648" y="2084832"/>
            <a:ext cx="398678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1A2B4A"/>
                </a:solidFill>
                <a:latin typeface="Microsoft YaHei"/>
              </a:rPr>
              <a:t>新数据写新块→改指针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98064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798064"/>
            <a:ext cx="215798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67C5"/>
                </a:solidFill>
                <a:latin typeface="Microsoft YaHei"/>
              </a:rPr>
              <a:t>首次写 I/O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798064"/>
            <a:ext cx="4343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8" y="2798064"/>
            <a:ext cx="412394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1A2B4A"/>
                </a:solidFill>
                <a:latin typeface="Microsoft YaHei"/>
              </a:rPr>
              <a:t>1 读 + 2 写（写放大大）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798064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2798064"/>
            <a:ext cx="398678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1A2B4A"/>
                </a:solidFill>
                <a:latin typeface="Microsoft YaHei"/>
              </a:rPr>
              <a:t>1 写（无放大）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11296"/>
            <a:ext cx="2377440" cy="713232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511296"/>
            <a:ext cx="215798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67C5"/>
                </a:solidFill>
                <a:latin typeface="Microsoft YaHei"/>
              </a:rPr>
              <a:t>原数据块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3511296"/>
            <a:ext cx="4343400" cy="713232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7248" y="3511296"/>
            <a:ext cx="412394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1A2B4A"/>
                </a:solidFill>
                <a:latin typeface="Microsoft YaHei"/>
              </a:rPr>
              <a:t>被覆盖（需先搬走）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3511296"/>
            <a:ext cx="4206240" cy="713232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0648" y="3511296"/>
            <a:ext cx="398678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1A2B4A"/>
                </a:solidFill>
                <a:latin typeface="Microsoft YaHei"/>
              </a:rPr>
              <a:t>保持不动，被快照引用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224528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224528"/>
            <a:ext cx="215798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67C5"/>
                </a:solidFill>
                <a:latin typeface="Microsoft YaHei"/>
              </a:rPr>
              <a:t>性能开销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4224528"/>
            <a:ext cx="4343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27248" y="4224528"/>
            <a:ext cx="412394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1A2B4A"/>
                </a:solidFill>
                <a:latin typeface="Microsoft YaHei"/>
              </a:rPr>
              <a:t>较高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4224528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0648" y="4224528"/>
            <a:ext cx="398678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1A2B4A"/>
                </a:solidFill>
                <a:latin typeface="Microsoft YaHei"/>
              </a:rPr>
              <a:t>很低 / 可忽略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937760"/>
            <a:ext cx="2377440" cy="713232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937760"/>
            <a:ext cx="215798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67C5"/>
                </a:solidFill>
                <a:latin typeface="Microsoft YaHei"/>
              </a:rPr>
              <a:t>NetApp ONTAP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4937760"/>
            <a:ext cx="4343400" cy="713232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27248" y="4937760"/>
            <a:ext cx="412394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1A2B4A"/>
                </a:solidFill>
                <a:latin typeface="Microsoft YaHe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4937760"/>
            <a:ext cx="4206240" cy="713232"/>
          </a:xfrm>
          <a:prstGeom prst="rect">
            <a:avLst/>
          </a:prstGeom>
          <a:solidFill>
            <a:srgbClr val="E3F3E9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70648" y="4937760"/>
            <a:ext cx="3986784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2E9E5B"/>
                </a:solidFill>
                <a:latin typeface="Microsoft YaHei"/>
              </a:rPr>
              <a:t>✓ WAFL 采用 ROW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Microsoft YaHei"/>
              </a:rPr>
              <a:t>一句话结论：NetApp 官方明确称 Snapshot 为 Redirect-on-Write —— 把变化数据重定向写到新块、更新活动文件系统指针，旧块被快照保留，因此创建瞬时、几乎零性能开销。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