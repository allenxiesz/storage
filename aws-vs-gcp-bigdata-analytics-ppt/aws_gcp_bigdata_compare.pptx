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6583680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AWS vs GCP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大数据与分析产品全景对比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0">
                <a:solidFill>
                  <a:srgbClr val="9FB4D4"/>
                </a:solidFill>
                <a:latin typeface="Microsoft YaHei"/>
              </a:rPr>
              <a:t>10 大类别 · 逐产品优缺点 · 湖仓/表格式(含 S3 Tables)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Microsoft YaHei"/>
              </a:rPr>
              <a:t>基于 AWS / GCP 官方文档 · 2026-08 · 数据随产品更新，以官方为准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总览：两种架构哲学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E0F5"/>
                </a:solidFill>
                <a:latin typeface="Microsoft YaHei"/>
              </a:rPr>
              <a:t>AWS 多而全(purpose-built) vs GCP 少而精(serverless为主)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194560" cy="4572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1234440"/>
            <a:ext cx="45720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0" y="1234440"/>
            <a:ext cx="448056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234440"/>
            <a:ext cx="4572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234440"/>
            <a:ext cx="44805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GCP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91640"/>
            <a:ext cx="2194560" cy="1207008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1691640"/>
            <a:ext cx="4572000" cy="1207008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0" y="1691640"/>
            <a:ext cx="4480560" cy="1207008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691640"/>
            <a:ext cx="2011680" cy="12070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架构哲学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691640"/>
            <a:ext cx="4389120" cy="12070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每种负载一个专门服务，组合灵活、生态广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691640"/>
            <a:ext cx="4297680" cy="12070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BigQuery 一个平台包揽多数分析，免运维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98648"/>
            <a:ext cx="21945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51760" y="2898648"/>
            <a:ext cx="45720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2898648"/>
            <a:ext cx="44805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98648"/>
            <a:ext cx="2011680" cy="12070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计费主基调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898648"/>
            <a:ext cx="4389120" cy="12070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按实例/节点时长 或 serverless按用量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898648"/>
            <a:ext cx="4297680" cy="12070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serverless 为主(扫描量/slot)，无需管集群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05656"/>
            <a:ext cx="2194560" cy="1207008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4105656"/>
            <a:ext cx="4572000" cy="1207008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23760" y="4105656"/>
            <a:ext cx="4480560" cy="1207008"/>
          </a:xfrm>
          <a:prstGeom prst="rect">
            <a:avLst/>
          </a:prstGeom>
          <a:solidFill>
            <a:srgbClr val="F2F6FB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105656"/>
            <a:ext cx="2011680" cy="12070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独有强项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105656"/>
            <a:ext cx="4389120" cy="12070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搜索(OpenSearch)、托管Kafka(MSK)、精细选型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105656"/>
            <a:ext cx="4297680" cy="12070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数仓(BigQuery)、批流一体(Dataflow/Beam)、语义层(Looker)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12664"/>
            <a:ext cx="21945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51760" y="5312664"/>
            <a:ext cx="45720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23760" y="5312664"/>
            <a:ext cx="44805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312664"/>
            <a:ext cx="2011680" cy="12070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067C5"/>
                </a:solidFill>
                <a:latin typeface="Microsoft YaHei"/>
              </a:rPr>
              <a:t>开放格式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312664"/>
            <a:ext cx="4389120" cy="12070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S3 Tables 原生 Iceberg、引擎中立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312664"/>
            <a:ext cx="4297680" cy="12070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50" b="0">
                <a:solidFill>
                  <a:srgbClr val="1A2B4A"/>
                </a:solidFill>
                <a:latin typeface="Microsoft YaHei"/>
              </a:rPr>
              <a:t>Iceberg/Delta/Hudi 内建，但引擎偏 BigQuery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⚠️ 4 个近期改名(已核实官方文档)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E0F5"/>
                </a:solidFill>
                <a:latin typeface="Microsoft YaHei"/>
              </a:rPr>
              <a:t>做技术选型/沟通时用新名，避免踩坑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105156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Microsoft YaHei"/>
              </a:rPr>
              <a:t>Dataproc  →  Google Cloud Managed Service for Apache Spark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47672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Microsoft YaHei"/>
              </a:rPr>
              <a:t>官方文档已重定向，旧名仍在用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10881360" cy="105156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Microsoft YaHei"/>
              </a:rPr>
              <a:t>QuickSight  →  Amazon Quick 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82112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Microsoft YaHei"/>
              </a:rPr>
              <a:t>隶属新品牌 Amazon Quick(AI套件)，原 Q 自然语言并入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10881360" cy="105156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59352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Microsoft YaHei"/>
              </a:rPr>
              <a:t>Cloud Composer  →  Managed Airflow (Gen3)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16552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Microsoft YaHei"/>
              </a:rPr>
              <a:t>文档新称谓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074920"/>
            <a:ext cx="10881360" cy="1051560"/>
          </a:xfrm>
          <a:prstGeom prst="roundRect">
            <a:avLst/>
          </a:prstGeom>
          <a:solidFill>
            <a:srgbClr val="F2F6FB"/>
          </a:solidFill>
          <a:ln w="19050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93792"/>
            <a:ext cx="104241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Microsoft YaHei"/>
              </a:rPr>
              <a:t>BigLake Iceberg tables  →  Apache Iceberg managed 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50992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A6B82"/>
                </a:solidFill>
                <a:latin typeface="Microsoft YaHei"/>
              </a:rPr>
              <a:t>BigQuery 官方新称谓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1. 数据仓库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E0F5"/>
                </a:solidFill>
                <a:latin typeface="Microsoft YaHei"/>
              </a:rPr>
              <a:t>Amazon Redshift  vs  Google BigQuery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AWS · Amazon Redshift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GCP · Google BigQuery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B8C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定位：PB级托管数仓，Provisioned+Serverless两形态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Serverless无需管集群，按需/预留灵活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与S3/Glue/SageMaker深度集成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RMS存储按GB/月独立计费，成本可控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Provisioned仍需选节点/管容量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Python UDF 2026-06-30后停止支持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定位：全托管Serverless、存算分离、AI-ready数据平台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真Serverless、存算彻底分离、资源动态互不干扰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计费双模型可切(按TiB扫描/按slot)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原生AI/ML、搜索、开放表格式内建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on-demand按扫描字节，未裁剪大表易失控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深度绑定GCP生态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6172200"/>
            <a:ext cx="11384280" cy="502920"/>
          </a:xfrm>
          <a:prstGeom prst="round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选型建议： 重AWS生态/需精细节点控制→Redshift；追求零运维+内建AI+弹性计费→BigQuery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2. 交互式查询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E0F5"/>
                </a:solidFill>
                <a:latin typeface="Microsoft YaHei"/>
              </a:rPr>
              <a:t>Amazon Athena  vs  BigQuery外部表 / BigLake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AWS · Amazon Athena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GCP · BigQuery外部表 / BigLake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B8C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定位：Serverless SQL直查S3，另含Serverless Spark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完全Serverless、按查询付费、无基础设施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自动并行扩展，大数据集秒级返回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内建Serverless Spark notebook，SQL+Spark双模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按扫描量计费，未用列存/分区易贵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高并发/复杂长任务性能受限(待确认配额)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定位：BigQuery外部表/BigLake查GCS及开放格式并统一治理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一份数据多引擎共享，支持Iceberg/Delta/Hudi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与BigQuery治理(列级安全/脱敏/血缘)统一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可与原生表混查，体验一致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外部表相比原生表有性能/功能限制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概念较多(外部表/BigLake/Iceberg)门槛略高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6172200"/>
            <a:ext cx="11384280" cy="502920"/>
          </a:xfrm>
          <a:prstGeom prst="round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选型建议： 纯S3即席查询/轻量按需→Athena；已用BQ且要跨引擎共享开放格式→BigLake/外部表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3. 托管Spark/Hadoop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E0F5"/>
                </a:solidFill>
                <a:latin typeface="Microsoft YaHei"/>
              </a:rPr>
              <a:t>Amazon EMR  vs  Managed Service for Apache Spark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AWS · Amazon EMR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GCP · Managed Service for Apache Spark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B8C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定位：托管Spark/Hive等，EMR on EC2/EKS + EMR Serverless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EMR Serverless自动配资源、跑完即释放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EC2/EKS/Serverless多部署形态灵活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可预初始化资源获秒级交互响应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EMR on EC2仍需选实例/调优集群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版本/框架组合与调参复杂度高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定位：原Dataproc，托管Spark，1分钟起停、秒级计费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按vCPU $0.01/小时、秒级计费、1分钟最小计费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集群快速创建、用完关机省钱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支持抢占式实例进一步降本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传统集群形态仍需管理生命周期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生态偏Spark，Hadoop组件广度不如EMR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6172200"/>
            <a:ext cx="11384280" cy="502920"/>
          </a:xfrm>
          <a:prstGeom prst="round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选型建议： 需多框架/多部署+深AWS集成→EMR；主跑Spark要极简计费快速起停→Managed Spark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4. 流式处理引擎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E0F5"/>
                </a:solidFill>
                <a:latin typeface="Microsoft YaHei"/>
              </a:rPr>
              <a:t>Kinesis + Managed Flink  vs  Dataflow (Apache Beam)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AWS · Kinesis + Managed Flink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GCP · Dataflow (Apache Beam)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B8C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定位：Kinesis摄取 + Managed Flink做流处理(多语言)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Managed Flink托管底层(弹性/AZ容错/快照)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基于开源Flink，可用全部算子/库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与Kinesis/MSK/S3原生打通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需自行组合Streams+Flink两个服务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Flink应用调优/状态管理有学习曲线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定位：统一批流处理，同一Beam模型，默认exactly-once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批流统一同一模型，一套代码两用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全托管、自动分配/回收worker，用完即删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默认exactly-once，可选at-least-once降本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绑定Beam模型，跨云迁移成本高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复杂pipeline资源/成本调优需经验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6172200"/>
            <a:ext cx="11384280" cy="502920"/>
          </a:xfrm>
          <a:prstGeom prst="round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选型建议： 已用Flink/AWS流栈→Kinesis+Managed Flink；要批流一体极简运维→Dataflow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5. 消息/事件摄取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E0F5"/>
                </a:solidFill>
                <a:latin typeface="Microsoft YaHei"/>
              </a:rPr>
              <a:t>Kinesis / Amazon MSK  vs  Pub/Sub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AWS · Kinesis / Amazon MSK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GCP · Pub/Sub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B8C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定位：Kinesis(原生流摄取) / MSK(托管Kafka)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MSK提供托管标准Kafka(生态兼容可迁移)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Kinesis与Firehose/Flink/Lambda无缝集成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覆盖Kafka兼容与AWS原生两类需求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Kinesis分片需容量规划与扩缩管理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MSK需一定Kafka运维知识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定位：异步可扩展消息服务，解耦生产消费，延迟约100ms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全托管、自动扩展、无分片/容量规划负担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异步pub/sub提升系统灵活与健壮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天然对接Dataflow/BigQuery做流分析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非Kafka协议，已有Kafka应用迁移需改造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端到端约100ms，超低延迟场景需评估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6172200"/>
            <a:ext cx="11384280" cy="502920"/>
          </a:xfrm>
          <a:prstGeom prst="round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选型建议： 需Kafka兼容→MSK；AWS原生流→Kinesis；要零运维全托管事件总线→Pub/Sub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6. ETL/数据集成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E0F5"/>
                </a:solidFill>
                <a:latin typeface="Microsoft YaHei"/>
              </a:rPr>
              <a:t>AWS Glue  vs  Cloud Data Fusion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AWS · AWS Glue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GCP · Cloud Data Fusion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B8C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定位：Serverless数据集成(爬取/编目/Spark ETL)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Serverless、无需管理基础设施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内建Data Catalog统一元数据(供Athena/Redshift共享)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与AWS分析栈深度打通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可视化编排弱于图形化工具(偏代码)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Spark作业冷启动与调优需经验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定位：基于开源CDAP的可视化图形化ETL/ELT，丰富插件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图形化拖拽建管道、大量预置插件、低代码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基于开源CDAP，可移植性好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支持批/流与多源连接(SAP/Salesforce等)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底层跑在Dataproc，实例常驻产生持续费用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相对重，启动/实例管理有开销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6172200"/>
            <a:ext cx="11384280" cy="502920"/>
          </a:xfrm>
          <a:prstGeom prst="round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选型建议： 代码化Serverless ETL+AWS编目→Glue；低代码可视化+多源连接→Data Fusion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7. 工作流编排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E0F5"/>
                </a:solidFill>
                <a:latin typeface="Microsoft YaHei"/>
              </a:rPr>
              <a:t>Amazon MWAA  vs  Managed Airflow (Composer Gen3)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AWS · Amazon MWAA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GCP · Managed Airflow (Composer Gen3)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B8C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定位：托管Apache Airflow，Python建管道、自动伸缩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全托管Airflow、自动伸缩、无基础设施负担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建环境时选Airflow版本、自动装配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集成AWS安全服务快速安全访问数据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环境按容量常驻计费，空闲也有成本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Airflow版本升级/兼容需规划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定位：全托管Airflow(Gen3)，可跨云及本地编排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全托管、原生Airflow Web UI与CLI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可跨云/本地编排pipeline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Gen3持续迭代新特性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底层环境常驻、成本随规模上升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版本代际(Gen1/2/3)迁移需注意兼容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6172200"/>
            <a:ext cx="11384280" cy="502920"/>
          </a:xfrm>
          <a:prstGeom prst="round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选型建议： 功能相当，按所在云选：AWS→MWAA，GCP→Composer/Managed Airflow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8. BI/可视化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E0F5"/>
                </a:solidFill>
                <a:latin typeface="Microsoft YaHei"/>
              </a:rPr>
              <a:t>Amazon Quick Sight  vs  Looker / Looker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AWS · Amazon Quick 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GCP · Looker / Looker Studio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B8C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定位：交互式BI(现属Amazon Quick AI套件)，可嵌入分析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Serverless、按会话/容量计费，可嵌入应用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归入Amazon Quick后与AI代理/自然语言打通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与AWS数据源原生连接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品牌重组仍在演进，功能边界待稳定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建模/语义层能力弱于Looker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定位：Looker(LookML语义层企业BI) / Looker Studio(轻量免费)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LookML语义层统一指标定义、单一真相源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强嵌入分析与API、可作数据应用平台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Looker Studio免费轻量上手快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Looker企业版授权成本高、LookML有学习曲线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Looker与Looker Studio两套产品易混淆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6172200"/>
            <a:ext cx="11384280" cy="502920"/>
          </a:xfrm>
          <a:prstGeom prst="round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选型建议： 要治理化语义层/企业建模→Looker；轻量免费→Looker Studio；AWS生态+AI化BI→Quick Sight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9. 搜索/日志分析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E0F5"/>
                </a:solidFill>
                <a:latin typeface="Microsoft YaHei"/>
              </a:rPr>
              <a:t>Amazon OpenSearch  vs  GCP(无原生对标)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AWS · Amazon OpenSearch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GCP · GCP(无原生对标)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B8C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定位：托管OpenSearch集群，日志分析/实时监控/点击流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全托管domain，自动替换故障节点、一键扩缩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兼容OpenSearch与legacy Elasticsearch OSS(≤7.10)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生态含Dashboards、日志/可观测完整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domain需选实例/容量并管理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集群规模/分片规划仍需经验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定位：无与OpenSearch一一对应的第一方托管搜索集群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Cloud Logging+Log Analytics(底层BigQuery)做检索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全文/向量搜索用BQ search或Vertex AI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可在GCP部署Elastic Cloud替代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无第一方Elasticsearch兼容托管搜索集群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需自行组合多个服务或用第三方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6172200"/>
            <a:ext cx="11384280" cy="502920"/>
          </a:xfrm>
          <a:prstGeom prst="round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选型建议： 需ES/OpenSearch兼容托管集群→AWS明显占优；GCP侧用Log Analytics/BQ+Vertex AI Search或Elastic Cloud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10. 湖仓/表格式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E0F5"/>
                </a:solidFill>
                <a:latin typeface="Microsoft YaHei"/>
              </a:rPr>
              <a:t>Amazon S3 Tables  vs  BQ Apache Iceberg managed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AWS · Amazon S3 Tables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E0C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GCP · BQ Apache Iceberg managed 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5486400" cy="4434840"/>
          </a:xfrm>
          <a:prstGeom prst="rect">
            <a:avLst/>
          </a:prstGeom>
          <a:solidFill>
            <a:srgbClr val="F2F6FB"/>
          </a:solidFill>
          <a:ln w="12700">
            <a:solidFill>
              <a:srgbClr val="B8C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定位：新bucket类型(table bucket)，原生存Iceberg+自动优化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原生Iceberg存储+内建自动维护(compaction)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多引擎可查(Athena/Redshift/Spark)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支持Iceberg V3、跨区复制、智能分层降本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新bucket类型，区域/配额限制需核对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生态与工具链仍在成熟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55648"/>
            <a:ext cx="5120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50" b="1">
                <a:solidFill>
                  <a:srgbClr val="1A2B4A"/>
                </a:solidFill>
                <a:latin typeface="Microsoft YaHei"/>
              </a:rPr>
              <a:t>定位：GCS上以Iceberg开放格式提供与原生BQ表一致的托管体验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14016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9E5B"/>
                </a:solidFill>
                <a:latin typeface="Microsoft YaHei"/>
              </a:rPr>
              <a:t>✔ 优点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7249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全托管但数据存客户自有GCS，兼顾开放+治理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1821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支持DML/高吞吐流写/schema演进/时间旅行/列级安全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639312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1A2B4A"/>
                </a:solidFill>
                <a:latin typeface="Microsoft YaHei"/>
              </a:rPr>
              <a:t>• 自动存储优化(自适应文件/聚簇/GC)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96512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Microsoft YaHei"/>
              </a:rPr>
              <a:t>✘ 缺点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4074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强绑BigQuery作为管理层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864608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A6B82"/>
                </a:solidFill>
                <a:latin typeface="Microsoft YaHei"/>
              </a:rPr>
              <a:t>• 跨引擎写入路径受限(以BQ为主写)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6172200"/>
            <a:ext cx="11384280" cy="502920"/>
          </a:xfrm>
          <a:prstGeom prst="round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选型建议： 以S3为湖底座+开放Iceberg多引擎→S3 Tables；已用BQ要托管+数据自有+开放格式→BQ Iceberg managed tables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总结：怎么选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E0F5"/>
                </a:solidFill>
                <a:latin typeface="Microsoft YaHei"/>
              </a:rPr>
              <a:t>一句话决策指南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760720" cy="54864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4864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2B4A"/>
                </a:solidFill>
                <a:latin typeface="Microsoft YaHei"/>
              </a:rPr>
              <a:t>追求零运维、开箱即分析、内建AI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5212080" cy="54864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→ GCP(BigQuery为核心)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47672"/>
            <a:ext cx="5760720" cy="54864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47672"/>
            <a:ext cx="54864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2B4A"/>
                </a:solidFill>
                <a:latin typeface="Microsoft YaHei"/>
              </a:rPr>
              <a:t>要灵活组合、生态广度、精细选型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47672"/>
            <a:ext cx="5212080" cy="548640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47672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→ AWS(purpose-built服务群)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69464"/>
            <a:ext cx="5760720" cy="54864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69464"/>
            <a:ext cx="54864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2B4A"/>
                </a:solidFill>
                <a:latin typeface="Microsoft YaHei"/>
              </a:rPr>
              <a:t>需要搜索/日志分析(ES兼容)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569464"/>
            <a:ext cx="5212080" cy="548640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569464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→ AWS OpenSearch(GCP无原生对标)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91256"/>
            <a:ext cx="5760720" cy="54864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91256"/>
            <a:ext cx="54864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2B4A"/>
                </a:solidFill>
                <a:latin typeface="Microsoft YaHei"/>
              </a:rPr>
              <a:t>需要托管Kafka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191256"/>
            <a:ext cx="5212080" cy="548640"/>
          </a:xfrm>
          <a:prstGeom prst="round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191256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→ AWS MSK(GCP另有Managed Kafka)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13048"/>
            <a:ext cx="5760720" cy="54864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813048"/>
            <a:ext cx="54864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2B4A"/>
                </a:solidFill>
                <a:latin typeface="Microsoft YaHei"/>
              </a:rPr>
              <a:t>要批流一体、统一编程模型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813048"/>
            <a:ext cx="5212080" cy="54864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813048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→ GCP Dataflow(Beam)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434840"/>
            <a:ext cx="5760720" cy="54864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434840"/>
            <a:ext cx="54864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2B4A"/>
                </a:solidFill>
                <a:latin typeface="Microsoft YaHei"/>
              </a:rPr>
              <a:t>要企业级BI语义层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434840"/>
            <a:ext cx="5212080" cy="54864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434840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→ GCP Looker(LookML)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056632"/>
            <a:ext cx="5760720" cy="54864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056632"/>
            <a:ext cx="54864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2B4A"/>
                </a:solidFill>
                <a:latin typeface="Microsoft YaHei"/>
              </a:rPr>
              <a:t>要开放中立的托管Iceberg湖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056632"/>
            <a:ext cx="5212080" cy="548640"/>
          </a:xfrm>
          <a:prstGeom prst="roundRect">
            <a:avLst/>
          </a:prstGeom>
          <a:solidFill>
            <a:srgbClr val="006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056632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→ AWS S3 Tables(存储归存储,引擎随便挑)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678424"/>
            <a:ext cx="5760720" cy="54864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678424"/>
            <a:ext cx="54864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2B4A"/>
                </a:solidFill>
                <a:latin typeface="Microsoft YaHei"/>
              </a:rPr>
              <a:t>要存算一体的托管Iceberg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5678424"/>
            <a:ext cx="5212080" cy="54864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5678424"/>
            <a:ext cx="49377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</a:rPr>
              <a:t>→ GCP BQ Iceberg managed tables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