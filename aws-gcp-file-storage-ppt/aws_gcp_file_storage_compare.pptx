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AWS vs GCP 文件存储服务对比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FB8D8"/>
                </a:solidFill>
                <a:latin typeface="Microsoft YaHei"/>
              </a:rPr>
              <a:t>EFS·Filestore | FSx Lustre·Managed Lustre | Parallelstore(DAOS) | FSx NetApp ONTAP·NetApp Volumes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82"/>
                </a:solidFill>
                <a:latin typeface="Microsoft YaHei"/>
              </a:rPr>
              <a:t>基于两家官方文档整理 · 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三组对比产品概览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3F2"/>
                </a:solidFill>
                <a:latin typeface="Microsoft YaHei"/>
              </a:rPr>
              <a:t>按场景配对：基础NFS / 并行HPC / 企业级ONTAP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554480"/>
            <a:ext cx="3657600" cy="585216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664208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1104" y="1554480"/>
            <a:ext cx="3657600" cy="585216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1104" y="1664208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18704" y="1554480"/>
            <a:ext cx="3657600" cy="585216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18704" y="1664208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2139696"/>
            <a:ext cx="3657600" cy="585216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249424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2B4A"/>
                </a:solidFill>
                <a:latin typeface="Microsoft YaHei"/>
              </a:rPr>
              <a:t>基础托管 NFS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1104" y="2139696"/>
            <a:ext cx="3657600" cy="585216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2249424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9900"/>
                </a:solidFill>
                <a:latin typeface="Microsoft YaHei"/>
              </a:rPr>
              <a:t>Amazon EFS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8704" y="2139696"/>
            <a:ext cx="3657600" cy="585216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18704" y="2249424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285F4"/>
                </a:solidFill>
                <a:latin typeface="Microsoft YaHei"/>
              </a:rPr>
              <a:t>Filestore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2724912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834640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2B4A"/>
                </a:solidFill>
                <a:latin typeface="Microsoft YaHei"/>
              </a:rPr>
              <a:t>并行FS-Lustre系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1104" y="2724912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1104" y="2834640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9900"/>
                </a:solidFill>
                <a:latin typeface="Microsoft YaHei"/>
              </a:rPr>
              <a:t>FSx for Lustre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18704" y="2724912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2834640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285F4"/>
                </a:solidFill>
                <a:latin typeface="Microsoft YaHei"/>
              </a:rPr>
              <a:t>Managed Lustre (DDN)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" y="3310128"/>
            <a:ext cx="3657600" cy="585216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419856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2B4A"/>
                </a:solidFill>
                <a:latin typeface="Microsoft YaHei"/>
              </a:rPr>
              <a:t>并行FS-对象系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1104" y="3310128"/>
            <a:ext cx="3657600" cy="585216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61104" y="3419856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9900"/>
                </a:solidFill>
                <a:latin typeface="Microsoft YaHei"/>
              </a:rPr>
              <a:t>(无直接对标)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18704" y="3310128"/>
            <a:ext cx="3657600" cy="585216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419856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285F4"/>
                </a:solidFill>
                <a:latin typeface="Microsoft YaHei"/>
              </a:rPr>
              <a:t>Parallelstore (DAOS)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" y="3895344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005072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2B4A"/>
                </a:solidFill>
                <a:latin typeface="Microsoft YaHei"/>
              </a:rPr>
              <a:t>企业级 ONTAP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61104" y="3895344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1104" y="4005072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9900"/>
                </a:solidFill>
                <a:latin typeface="Microsoft YaHei"/>
              </a:rPr>
              <a:t>FSx for NetApp ONTAP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18704" y="3895344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18704" y="4005072"/>
            <a:ext cx="36576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4285F4"/>
                </a:solidFill>
                <a:latin typeface="Microsoft YaHei"/>
              </a:rPr>
              <a:t>NetApp Volumes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48463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Microsoft YaHei"/>
              </a:rPr>
              <a:t>• 四组配对：EFS↔Filestore(NFS)；FSx Lustre↔Managed Lustre(都是Lustre)；Parallelstore(DAOS)是GCP独有的对象式并行FS；两个ONTAP同源NetApp</a:t>
            </a:r>
          </a:p>
          <a:p>
            <a:pPr algn="l"/>
            <a:r>
              <a:rPr sz="1200" b="0">
                <a:solidFill>
                  <a:srgbClr val="5A6B82"/>
                </a:solidFill>
                <a:latin typeface="Microsoft YaHei"/>
              </a:rPr>
              <a:t>• ⚠️ GCP有两个并行文件系统：Managed Lustre(Lustre内核) 和 Parallelstore(Intel DAOS内核)，是两个不同产品</a:t>
            </a:r>
          </a:p>
          <a:p>
            <a:pPr algn="l"/>
            <a:r>
              <a:rPr sz="1200" b="0">
                <a:solidFill>
                  <a:srgbClr val="5A6B82"/>
                </a:solidFill>
                <a:latin typeface="Microsoft YaHei"/>
              </a:rPr>
              <a:t>• 数据来源：AWS/GCP 官方文档 + GCP官方博客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① Amazon EFS  vs  GCP Filestore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3F2"/>
                </a:solidFill>
                <a:latin typeface="Microsoft YaHei"/>
              </a:rPr>
              <a:t>基础托管 NFS 文件存储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286000" cy="62865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459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459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协议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4620"/>
            <a:ext cx="22860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746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层级/模式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032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032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容量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22860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性能(读吞吐)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605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605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最大IOPS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89220"/>
            <a:ext cx="22860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892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可用性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178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8178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典型场景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1417320"/>
            <a:ext cx="4480560" cy="62865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14173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Amazon EFS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0459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0459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NFS v4.0/4.1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674620"/>
            <a:ext cx="44805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26746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Regional / One Zone;</a:t>
            </a:r>
          </a:p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吞吐:Elastic/Provisioned/Bursting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3032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33032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无需预置,自动弹性伸缩(PB级)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931920"/>
            <a:ext cx="44805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39319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Elastic: 20-60 GiBps/FS;</a:t>
            </a:r>
          </a:p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单客户端 1500 MiBps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5605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45605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Elastic 读90万-250万/写5万</a:t>
            </a:r>
          </a:p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(可申请提升10x)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5189220"/>
            <a:ext cx="44805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51892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Regional=多AZ; One Zone=单AZ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58178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58178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无预置弹性共享/容器/通用NFS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1417320"/>
            <a:ext cx="4507992" cy="62865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14173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GCP Filestore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20459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20459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NFS v3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2674620"/>
            <a:ext cx="4507992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26746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Zonal / Regional / Enterprise(GKE)</a:t>
            </a:r>
          </a:p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/ Basic HDD·SSD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33032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33032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Zonal 1-100TiB; Regional 100GiB-100TiB;</a:t>
            </a:r>
          </a:p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Basic 最高63.9TiB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3931920"/>
            <a:ext cx="4507992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0" y="39319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可配置(custom performance);</a:t>
            </a:r>
          </a:p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随容量/层级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45605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45605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随层级/容量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5189220"/>
            <a:ext cx="4507992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51892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Zonal=单区; Regional=跨区抗区故障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58178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58178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HPC(Zonal)/区域高可用/GKE多share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② FSx for Lustre  vs  GCP Managed Lustre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3F2"/>
                </a:solidFill>
                <a:latin typeface="Microsoft YaHei"/>
              </a:rPr>
              <a:t>并行文件系统 (HPC / AI 训练)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286000" cy="62865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459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459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底层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4620"/>
            <a:ext cx="22860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746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吞吐档位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032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032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吞吐性质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22860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对象存储集成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605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605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元数据IOPS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89220"/>
            <a:ext cx="22860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892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上限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178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8178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在线变配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1417320"/>
            <a:ext cx="4480560" cy="62865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14173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FSx for Lustre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0459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0459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AWS自研+开源Lustre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674620"/>
            <a:ext cx="44805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26746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125/250/500/1000 MBps/TiB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3032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33032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burst/baseline双档(会衰减)</a:t>
            </a:r>
          </a:p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实测:125档@4.8TiB burst~1600→基线600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931920"/>
            <a:ext cx="44805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39319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DRA + HSM 惰性加载</a:t>
            </a:r>
          </a:p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(released/restore, 可释放空间)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5605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45605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可独立预置(1500-192000)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5189220"/>
            <a:ext cx="44805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51892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多TBps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58178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58178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支持,但OST断连~2min+6h间隔(实测)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1417320"/>
            <a:ext cx="4507992" cy="62865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14173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Managed Lustre (DDN)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20459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20459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DDN EXAScaler 商业版Lustre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2674620"/>
            <a:ext cx="4507992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26746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125/250/500/1000 + Dynamic(25)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33032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33032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官方称 sustained 恒定吞吐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3931920"/>
            <a:ext cx="4507992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0" y="39319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GCS 批量全量传输(import/export)</a:t>
            </a:r>
          </a:p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无HSM惰性加载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45605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45605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随容量+吞吐自动伸缩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5189220"/>
            <a:ext cx="4507992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51892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10 TBps / 80 PiB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58178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58178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增容量即提升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②b GCP Parallelstore  vs  AWS FSx Lustre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3F2"/>
                </a:solidFill>
                <a:latin typeface="Microsoft YaHei"/>
              </a:rPr>
              <a:t>并行文件系统 - 对象/DAOS 架构 (HPC/AI)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286000" cy="62865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459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459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底层架构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4620"/>
            <a:ext cx="22860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746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元数据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032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032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介质/IO路径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22860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最大规模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605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605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IOPS/延迟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89220"/>
            <a:ext cx="22860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892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对象存储集成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178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8178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擅长场景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1417320"/>
            <a:ext cx="4480560" cy="62865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14173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AWS FSx for Lustre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0459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0459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Lustre (POSIX并行FS)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674620"/>
            <a:ext cx="44805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26746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集中式MDS/MDT(可多MDT)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3032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33032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块设备+内核态LNet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931920"/>
            <a:ext cx="44805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39319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数百TB~PB / 多TBps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5605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45605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network IOPS/TiB; 亚毫秒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5189220"/>
            <a:ext cx="44805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51892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DRA+HSM惰性加载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58178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58178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超大顺序吞吐(大文件)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1417320"/>
            <a:ext cx="4507992" cy="62865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14173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GCP Parallelstore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20459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20459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Intel DAOS (对象+KV, 用户态)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2674620"/>
            <a:ext cx="4507992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26746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全分布式元数据(无集中MDS)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33032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33032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持久内存(SCM)+NVMe, 用户态+RDMA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3931920"/>
            <a:ext cx="4507992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0" y="39319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100 TiB / ~115 GiB/s (当前最大部署)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45605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45605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读~300万/写~100万; ~0.3ms (@100TiB)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5189220"/>
            <a:ext cx="4507992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51892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import/export API(批量~20GB/s)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58178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58178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小文件/元数据密集/AI训练(自测快3.9x)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③ FSx for NetApp ONTAP  vs  GCP NetApp 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3F2"/>
                </a:solidFill>
                <a:latin typeface="Microsoft YaHei"/>
              </a:rPr>
              <a:t>企业级 ONTAP (同源 NetApp 技术)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286000" cy="62865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459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459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底层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4620"/>
            <a:ext cx="22860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746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协议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032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032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产品形态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22860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SnapMirror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605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605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FlexGroup/大卷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89220"/>
            <a:ext cx="22860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8922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多HA pair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17870"/>
            <a:ext cx="228600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817870"/>
            <a:ext cx="214884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A2B4A"/>
                </a:solidFill>
                <a:latin typeface="Microsoft YaHei"/>
              </a:rPr>
              <a:t>HA/冗余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1417320"/>
            <a:ext cx="4480560" cy="62865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14173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FSx for NetApp ONTAP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0459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0459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ONTAP on AWS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674620"/>
            <a:ext cx="44805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26746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NFS/SMB/iSCSI/NVMe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3032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33032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单服务+部署类型(Single/Multi-AZ)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931920"/>
            <a:ext cx="44805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39319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支持(on-prem→云 迁移/DR)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5605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45605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支持FlexGroup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5189220"/>
            <a:ext cx="44805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518922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Single-AZ 最多12 HA pair(用户可配)</a:t>
            </a:r>
          </a:p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→72GB/s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5817870"/>
            <a:ext cx="4480560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5817870"/>
            <a:ext cx="4343400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FF9900"/>
                </a:solidFill>
                <a:latin typeface="Microsoft YaHei"/>
              </a:rPr>
              <a:t>Multi-AZ HA pair 自动failover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1417320"/>
            <a:ext cx="4507992" cy="62865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14173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GCP NetApp Volumes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20459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20459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NetApp+Google 托管ONTAP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2674620"/>
            <a:ext cx="4507992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26746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NFS(v3/4.1/4.2)/SMB/iSCSI/NVMe</a:t>
            </a:r>
          </a:p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+S3(ONTAP-mode)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33032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33032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多service level:Flex/Standard</a:t>
            </a:r>
          </a:p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/Premium/Extreme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3931920"/>
            <a:ext cx="4507992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0" y="39319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支持(hybrid replication, 同能力)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45605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45605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Large Capacity Volume(=FlexGroup)</a:t>
            </a:r>
          </a:p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1PiB/12.5GiB·s/6端点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5189220"/>
            <a:ext cx="4507992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518922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HA不对用户暴露(托管黑盒)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5817870"/>
            <a:ext cx="4507992" cy="62865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5817870"/>
            <a:ext cx="4370832" cy="628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285F4"/>
                </a:solidFill>
                <a:latin typeface="Microsoft YaHei"/>
              </a:rPr>
              <a:t>服务级HA + 可选多区冗余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关键差异 &amp; 选型建议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3F2"/>
                </a:solidFill>
                <a:latin typeface="Microsoft YaHei"/>
              </a:rPr>
              <a:t>核心分野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28016" cy="105156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44752"/>
            <a:ext cx="2743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E9E5B"/>
                </a:solidFill>
                <a:latin typeface="Microsoft YaHei"/>
              </a:rPr>
              <a:t>EFS vs Filestore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17320"/>
            <a:ext cx="8229600" cy="1097280"/>
          </a:xfrm>
          <a:prstGeom prst="round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490472"/>
            <a:ext cx="795527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EFS 免预置全弹性、NFSv4、单FS吞吐上限更高(60GiBps); Filestore 分层清晰(Zonal/Regional/Enterprise)。基础NFS两家都成熟。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128016" cy="105156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79192"/>
            <a:ext cx="2743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Microsoft YaHei"/>
              </a:rPr>
              <a:t>Lustre 并行FS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651760"/>
            <a:ext cx="8229600" cy="1097280"/>
          </a:xfrm>
          <a:prstGeom prst="round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724912"/>
            <a:ext cx="795527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对象存储集成是关键:AWS HSM惰性加载(数据&gt;&gt;容量省钱) vs GCP批量传输(全量装进,训练零抖动); AWS burst衰减/GCP恒定; AWS元数据可独立调。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128016" cy="10515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913632"/>
            <a:ext cx="2743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E44AD"/>
                </a:solidFill>
                <a:latin typeface="Microsoft YaHei"/>
              </a:rPr>
              <a:t>Parallelstore(DAOS)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3886200"/>
            <a:ext cx="8229600" cy="1097280"/>
          </a:xfrm>
          <a:prstGeom prst="round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3959352"/>
            <a:ext cx="795527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GCP独有的对象式并行FS(Intel DAOS,非Lustre)。全分布式元数据+用户态RDMA,主打小文件/元数据/AI训练(0.3ms/300万读IOPS)。AWS无直接对标(FSx Lustre最接近但架构不同)。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128016" cy="1051560"/>
          </a:xfrm>
          <a:prstGeom prst="rect">
            <a:avLst/>
          </a:prstGeom>
          <a:solidFill>
            <a:srgbClr val="006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148072"/>
            <a:ext cx="2743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67C5"/>
                </a:solidFill>
                <a:latin typeface="Microsoft YaHei"/>
              </a:rPr>
              <a:t>NetApp ONTAP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5120640"/>
            <a:ext cx="8229600" cy="1097280"/>
          </a:xfrm>
          <a:prstGeom prst="round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5193792"/>
            <a:ext cx="795527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同源→功能高度重合(快照/克隆/SnapMirror/FlexGroup); 最大区别:AWS开放多HA pair scale-out(最多12,用户可配) vs GCP HA托管黑盒。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Microsoft YaHei"/>
              </a:rPr>
              <a:t>数据来源:AWS/GCP官方文档 2026-08 | 部分性能为实测,以实际region/配置为准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